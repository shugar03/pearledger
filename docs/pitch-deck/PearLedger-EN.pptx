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PearLedger is a financial operations agent that runs entirely on the user machine. It reads the invoice, reconciles it against the purchase order, projects inventory and settles in USDt with no network fee. Three things to remember: 100% local AI, $0.00 fee and P2P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pain is concrete and accountants, treasury and finance teams live it: typing invoices, eyeballing them against the purchase order and paying fees while waiting for settlement. Each friction has its agent tool next to it: parse_invoice, match_purchase_order and execute_gasless_payment.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three tools from the plugin contract. The card on the right is the real demo run: an ACME invoice for USD 1,240.00, read with 98% confidence, matched against PO-2291 and settled in USDt with a $0.00 fee. The forecast flags that SKU MAT-001 needs restocking in 16 days. None of it leaves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Local-first is not a marketing promise: there is no backend receiving the documents and no calls to AI APIs. Inference and OCR run through @qvac/sdk on the machine, and every payment above $1,000 USDt goes through a hook a person approves. Below, the four pieces of the stack: QVAC for AI, WDK for payments, Pear to distribute and update over P2P, Bare as a runtime without Node.js.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replicates the Cordis pattern: event bus, tool registry and hooks. Cordis is not imported as a dependency because it assumes Node.js and we run on Bare. Adding an accounting process means writing a twenty-line register(): the tool becomes available in the CLI, in --json and in the UI, and inherits the security hooks without another line of code. Today it is three plugins and eight tools; bank reconciliation, a VAT book or month-end close come in through the same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agent already runs. Clone the repo, install it and it keeps working on the machine, with no server of its own and updates over P2P. Apache-2.0.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5"/>
        </a:solidFill>
      </p:bgPr>
    </p:bg>
    <p:spTree>
      <p:nvGrpSpPr>
        <p:cNvPr id="1" name=""/>
        <p:cNvGrpSpPr/>
        <p:nvPr/>
      </p:nvGrpSpPr>
      <p:grpSpPr>
        <a:xfrm>
          <a:off x="0" y="0"/>
          <a:ext cx="0" cy="0"/>
          <a:chOff x="0" y="0"/>
          <a:chExt cx="0" cy="0"/>
        </a:xfrm>
      </p:grpSpPr>
      <p:pic>
        <p:nvPicPr>
          <p:cNvPr id="2" name="Image 0" descr="/tmp/PearLedger/landing/public/logo-light.png">    </p:cNvPr>
          <p:cNvPicPr>
            <a:picLocks noChangeAspect="1"/>
          </p:cNvPicPr>
          <p:nvPr/>
        </p:nvPicPr>
        <p:blipFill>
          <a:blip r:embed="rId1"/>
          <a:stretch>
            <a:fillRect/>
          </a:stretch>
        </p:blipFill>
        <p:spPr>
          <a:xfrm>
            <a:off x="685800" y="502920"/>
            <a:ext cx="1737360" cy="731520"/>
          </a:xfrm>
          <a:prstGeom prst="rect">
            <a:avLst/>
          </a:prstGeom>
        </p:spPr>
      </p:pic>
      <p:sp>
        <p:nvSpPr>
          <p:cNvPr id="3" name="Text 0"/>
          <p:cNvSpPr/>
          <p:nvPr/>
        </p:nvSpPr>
        <p:spPr>
          <a:xfrm>
            <a:off x="685800" y="1783080"/>
            <a:ext cx="6400800" cy="237744"/>
          </a:xfrm>
          <a:prstGeom prst="rect">
            <a:avLst/>
          </a:prstGeom>
          <a:noFill/>
          <a:ln/>
        </p:spPr>
        <p:txBody>
          <a:bodyPr wrap="square" lIns="0" tIns="0" rIns="0" bIns="0" rtlCol="0" anchor="ctr"/>
          <a:lstStyle/>
          <a:p>
            <a:pPr indent="0" marL="0">
              <a:buNone/>
            </a:pPr>
            <a:r>
              <a:rPr lang="en-US" sz="1100" b="1" spc="200" kern="0" dirty="0">
                <a:solidFill>
                  <a:srgbClr val="C4F53C"/>
                </a:solidFill>
                <a:latin typeface="Arial" pitchFamily="34" charset="0"/>
                <a:ea typeface="Arial" pitchFamily="34" charset="-122"/>
                <a:cs typeface="Arial" pitchFamily="34" charset="-120"/>
              </a:rPr>
              <a:t>LOCAL-FIRST FINANCIAL AUTOMATION</a:t>
            </a:r>
            <a:endParaRPr lang="en-US" sz="1100" dirty="0"/>
          </a:p>
        </p:txBody>
      </p:sp>
      <p:sp>
        <p:nvSpPr>
          <p:cNvPr id="4" name="Text 1"/>
          <p:cNvSpPr/>
          <p:nvPr/>
        </p:nvSpPr>
        <p:spPr>
          <a:xfrm>
            <a:off x="685800" y="2148840"/>
            <a:ext cx="768096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The agent that automates
</a:t>
            </a:r>
            <a:pPr indent="0" marL="0">
              <a:lnSpc>
                <a:spcPct val="105000"/>
              </a:lnSpc>
              <a:buNone/>
            </a:pPr>
            <a:r>
              <a:rPr lang="en-US" sz="4000" b="1" dirty="0">
                <a:solidFill>
                  <a:srgbClr val="C4F53C"/>
                </a:solidFill>
                <a:latin typeface="Arial" pitchFamily="34" charset="0"/>
                <a:ea typeface="Arial" pitchFamily="34" charset="-122"/>
                <a:cs typeface="Arial" pitchFamily="34" charset="-120"/>
              </a:rPr>
              <a:t>your financial operations.</a:t>
            </a:r>
            <a:endParaRPr lang="en-US" sz="4000" dirty="0"/>
          </a:p>
        </p:txBody>
      </p:sp>
      <p:sp>
        <p:nvSpPr>
          <p:cNvPr id="5" name="Text 2"/>
          <p:cNvSpPr/>
          <p:nvPr/>
        </p:nvSpPr>
        <p:spPr>
          <a:xfrm>
            <a:off x="685800" y="3977640"/>
            <a:ext cx="7223760" cy="822960"/>
          </a:xfrm>
          <a:prstGeom prst="rect">
            <a:avLst/>
          </a:prstGeom>
          <a:noFill/>
          <a:ln/>
        </p:spPr>
        <p:txBody>
          <a:bodyPr wrap="square" lIns="0" tIns="0" rIns="0" bIns="0" rtlCol="0" anchor="ctr"/>
          <a:lstStyle/>
          <a:p>
            <a:pPr indent="0" marL="0">
              <a:lnSpc>
                <a:spcPct val="125000"/>
              </a:lnSpc>
              <a:buNone/>
            </a:pPr>
            <a:r>
              <a:rPr lang="en-US" sz="1600" dirty="0">
                <a:solidFill>
                  <a:srgbClr val="A1A6AD"/>
                </a:solidFill>
                <a:latin typeface="Arial" pitchFamily="34" charset="0"/>
                <a:ea typeface="Arial" pitchFamily="34" charset="-122"/>
                <a:cs typeface="Arial" pitchFamily="34" charset="-120"/>
              </a:rPr>
              <a:t>It reads the invoice, reconciles it, projects inventory and settles in USDt.</a:t>
            </a:r>
            <a:endParaRPr lang="en-US" sz="1600" dirty="0"/>
          </a:p>
          <a:p>
            <a:pPr indent="0" marL="0">
              <a:lnSpc>
                <a:spcPct val="125000"/>
              </a:lnSpc>
              <a:buNone/>
            </a:pPr>
            <a:r>
              <a:rPr lang="en-US" sz="1600" dirty="0">
                <a:solidFill>
                  <a:srgbClr val="A1A6AD"/>
                </a:solidFill>
                <a:latin typeface="Arial" pitchFamily="34" charset="0"/>
                <a:ea typeface="Arial" pitchFamily="34" charset="-122"/>
                <a:cs typeface="Arial" pitchFamily="34" charset="-120"/>
              </a:rPr>
              <a:t>All on your device, with no network fees.</a:t>
            </a:r>
            <a:endParaRPr lang="en-US" sz="1600" dirty="0"/>
          </a:p>
        </p:txBody>
      </p:sp>
      <p:sp>
        <p:nvSpPr>
          <p:cNvPr id="6" name="Text 3"/>
          <p:cNvSpPr/>
          <p:nvPr/>
        </p:nvSpPr>
        <p:spPr>
          <a:xfrm>
            <a:off x="685800" y="5029200"/>
            <a:ext cx="2587752" cy="384048"/>
          </a:xfrm>
          <a:prstGeom prst="roundRect">
            <a:avLst>
              <a:gd name="adj" fmla="val 35714"/>
            </a:avLst>
          </a:prstGeom>
          <a:solidFill>
            <a:srgbClr val="1C1E21"/>
          </a:solidFill>
          <a:ln w="12700">
            <a:solidFill>
              <a:srgbClr val="2A2D31"/>
            </a:solid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100% local AI</a:t>
            </a:r>
            <a:endParaRPr lang="en-US" sz="1200" dirty="0"/>
          </a:p>
        </p:txBody>
      </p:sp>
      <p:sp>
        <p:nvSpPr>
          <p:cNvPr id="7" name="Text 4"/>
          <p:cNvSpPr/>
          <p:nvPr/>
        </p:nvSpPr>
        <p:spPr>
          <a:xfrm>
            <a:off x="3438144" y="5029200"/>
            <a:ext cx="3172968" cy="384048"/>
          </a:xfrm>
          <a:prstGeom prst="roundRect">
            <a:avLst>
              <a:gd name="adj" fmla="val 35714"/>
            </a:avLst>
          </a:prstGeom>
          <a:solidFill>
            <a:srgbClr val="1C1E21"/>
          </a:solidFill>
          <a:ln w="12700">
            <a:solidFill>
              <a:srgbClr val="2A2D31"/>
            </a:solid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$0.00 network fee</a:t>
            </a:r>
            <a:endParaRPr lang="en-US" sz="1200" dirty="0"/>
          </a:p>
        </p:txBody>
      </p:sp>
      <p:sp>
        <p:nvSpPr>
          <p:cNvPr id="8" name="Text 5"/>
          <p:cNvSpPr/>
          <p:nvPr/>
        </p:nvSpPr>
        <p:spPr>
          <a:xfrm>
            <a:off x="6775704" y="5029200"/>
            <a:ext cx="3026664" cy="384048"/>
          </a:xfrm>
          <a:prstGeom prst="roundRect">
            <a:avLst>
              <a:gd name="adj" fmla="val 35714"/>
            </a:avLst>
          </a:prstGeom>
          <a:solidFill>
            <a:srgbClr val="1C1E21"/>
          </a:solidFill>
          <a:ln w="12700">
            <a:solidFill>
              <a:srgbClr val="2A2D31"/>
            </a:solid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P2P distribution</a:t>
            </a:r>
            <a:endParaRPr lang="en-US" sz="1200" dirty="0"/>
          </a:p>
        </p:txBody>
      </p:sp>
      <p:pic>
        <p:nvPicPr>
          <p:cNvPr id="9" name="Image 1" descr="/tmp/PearLedger/landing/public/mascot/mug-light.png">    </p:cNvPr>
          <p:cNvPicPr>
            <a:picLocks noChangeAspect="1"/>
          </p:cNvPicPr>
          <p:nvPr/>
        </p:nvPicPr>
        <p:blipFill>
          <a:blip r:embed="rId2"/>
          <a:stretch>
            <a:fillRect/>
          </a:stretch>
        </p:blipFill>
        <p:spPr>
          <a:xfrm>
            <a:off x="8732520" y="1600200"/>
            <a:ext cx="2606040" cy="3438144"/>
          </a:xfrm>
          <a:prstGeom prst="rect">
            <a:avLst/>
          </a:prstGeom>
        </p:spPr>
      </p:pic>
      <p:sp>
        <p:nvSpPr>
          <p:cNvPr id="10" name="Text 6"/>
          <p:cNvSpPr/>
          <p:nvPr/>
        </p:nvSpPr>
        <p:spPr>
          <a:xfrm>
            <a:off x="685800" y="6053328"/>
            <a:ext cx="7315200" cy="274320"/>
          </a:xfrm>
          <a:prstGeom prst="rect">
            <a:avLst/>
          </a:prstGeom>
          <a:noFill/>
          <a:ln/>
        </p:spPr>
        <p:txBody>
          <a:bodyPr wrap="square" lIns="0" tIns="0" rIns="0" bIns="0" rtlCol="0" anchor="ctr"/>
          <a:lstStyle/>
          <a:p>
            <a:pPr indent="0" marL="0">
              <a:buNone/>
            </a:pPr>
            <a:r>
              <a:rPr lang="en-US" sz="1100" dirty="0">
                <a:solidFill>
                  <a:srgbClr val="73787F"/>
                </a:solidFill>
                <a:latin typeface="Courier New" pitchFamily="34" charset="0"/>
                <a:ea typeface="Courier New" pitchFamily="34" charset="-122"/>
                <a:cs typeface="Courier New" pitchFamily="34" charset="-120"/>
              </a:rPr>
              <a:t>github.com/Shugar03/PearLedger  ·  Apache-2.0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85800" y="548640"/>
            <a:ext cx="6400800" cy="237744"/>
          </a:xfrm>
          <a:prstGeom prst="rect">
            <a:avLst/>
          </a:prstGeom>
          <a:noFill/>
          <a:ln/>
        </p:spPr>
        <p:txBody>
          <a:bodyPr wrap="square" lIns="0" tIns="0" rIns="0" bIns="0" rtlCol="0" anchor="ctr"/>
          <a:lstStyle/>
          <a:p>
            <a:pPr indent="0" marL="0">
              <a:buNone/>
            </a:pPr>
            <a:r>
              <a:rPr lang="en-US" sz="1100" b="1" spc="200" kern="0" dirty="0">
                <a:solidFill>
                  <a:srgbClr val="5D7A08"/>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685800" y="868680"/>
            <a:ext cx="8412480" cy="1371600"/>
          </a:xfrm>
          <a:prstGeom prst="rect">
            <a:avLst/>
          </a:prstGeom>
          <a:noFill/>
          <a:ln/>
        </p:spPr>
        <p:txBody>
          <a:bodyPr wrap="square" lIns="0" tIns="0" rIns="0" bIns="0" rtlCol="0" anchor="ctr"/>
          <a:lstStyle/>
          <a:p>
            <a:pPr indent="0" marL="0">
              <a:lnSpc>
                <a:spcPct val="105000"/>
              </a:lnSpc>
              <a:buNone/>
            </a:pPr>
            <a:r>
              <a:rPr lang="en-US" sz="3200" b="1" dirty="0">
                <a:solidFill>
                  <a:srgbClr val="111315"/>
                </a:solidFill>
                <a:latin typeface="Arial" pitchFamily="34" charset="0"/>
                <a:ea typeface="Arial" pitchFamily="34" charset="-122"/>
                <a:cs typeface="Arial" pitchFamily="34" charset="-120"/>
              </a:rPr>
              <a:t>Financial operations</a:t>
            </a:r>
            <a:endParaRPr lang="en-US" sz="3200" dirty="0"/>
          </a:p>
          <a:p>
            <a:pPr indent="0" marL="0">
              <a:lnSpc>
                <a:spcPct val="105000"/>
              </a:lnSpc>
              <a:buNone/>
            </a:pPr>
            <a:r>
              <a:rPr lang="en-US" sz="3200" b="1" dirty="0">
                <a:solidFill>
                  <a:srgbClr val="111315"/>
                </a:solidFill>
                <a:latin typeface="Arial" pitchFamily="34" charset="0"/>
                <a:ea typeface="Arial" pitchFamily="34" charset="-122"/>
                <a:cs typeface="Arial" pitchFamily="34" charset="-120"/>
              </a:rPr>
              <a:t>shouldn’t be this complicated.</a:t>
            </a:r>
            <a:endParaRPr lang="en-US" sz="3200" dirty="0"/>
          </a:p>
        </p:txBody>
      </p:sp>
      <p:sp>
        <p:nvSpPr>
          <p:cNvPr id="4" name="Text 2"/>
          <p:cNvSpPr/>
          <p:nvPr/>
        </p:nvSpPr>
        <p:spPr>
          <a:xfrm>
            <a:off x="685800" y="2212848"/>
            <a:ext cx="7680960" cy="310896"/>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Three tasks done by hand today that the agent handles on its own.</a:t>
            </a:r>
            <a:endParaRPr lang="en-US" sz="1500" dirty="0"/>
          </a:p>
        </p:txBody>
      </p:sp>
      <p:sp>
        <p:nvSpPr>
          <p:cNvPr id="5" name="Text 3"/>
          <p:cNvSpPr/>
          <p:nvPr/>
        </p:nvSpPr>
        <p:spPr>
          <a:xfrm>
            <a:off x="685800" y="2651760"/>
            <a:ext cx="1856232" cy="310896"/>
          </a:xfrm>
          <a:prstGeom prst="roundRect">
            <a:avLst>
              <a:gd name="adj" fmla="val 44118"/>
            </a:avLst>
          </a:prstGeom>
          <a:solidFill>
            <a:srgbClr val="FFFFFF"/>
          </a:solidFill>
          <a:ln w="12700">
            <a:solidFill>
              <a:srgbClr val="E5E7EB"/>
            </a:solid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Accountants</a:t>
            </a:r>
            <a:endParaRPr lang="en-US" sz="1100" dirty="0"/>
          </a:p>
        </p:txBody>
      </p:sp>
      <p:sp>
        <p:nvSpPr>
          <p:cNvPr id="6" name="Text 4"/>
          <p:cNvSpPr/>
          <p:nvPr/>
        </p:nvSpPr>
        <p:spPr>
          <a:xfrm>
            <a:off x="2670048" y="2651760"/>
            <a:ext cx="1499616" cy="310896"/>
          </a:xfrm>
          <a:prstGeom prst="roundRect">
            <a:avLst>
              <a:gd name="adj" fmla="val 44118"/>
            </a:avLst>
          </a:prstGeom>
          <a:solidFill>
            <a:srgbClr val="FFFFFF"/>
          </a:solidFill>
          <a:ln w="12700">
            <a:solidFill>
              <a:srgbClr val="E5E7EB"/>
            </a:solid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Treasury</a:t>
            </a:r>
            <a:endParaRPr lang="en-US" sz="1100" dirty="0"/>
          </a:p>
        </p:txBody>
      </p:sp>
      <p:sp>
        <p:nvSpPr>
          <p:cNvPr id="7" name="Text 5"/>
          <p:cNvSpPr/>
          <p:nvPr/>
        </p:nvSpPr>
        <p:spPr>
          <a:xfrm>
            <a:off x="4297680" y="2651760"/>
            <a:ext cx="2093976" cy="310896"/>
          </a:xfrm>
          <a:prstGeom prst="roundRect">
            <a:avLst>
              <a:gd name="adj" fmla="val 44118"/>
            </a:avLst>
          </a:prstGeom>
          <a:solidFill>
            <a:srgbClr val="FFFFFF"/>
          </a:solidFill>
          <a:ln w="12700">
            <a:solidFill>
              <a:srgbClr val="E5E7EB"/>
            </a:solid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Finance teams</a:t>
            </a:r>
            <a:endParaRPr lang="en-US" sz="1100" dirty="0"/>
          </a:p>
        </p:txBody>
      </p:sp>
      <p:pic>
        <p:nvPicPr>
          <p:cNvPr id="8" name="Image 0" descr="/tmp/PearLedger/landing/public/mascot/checklist.png">    </p:cNvPr>
          <p:cNvPicPr>
            <a:picLocks noChangeAspect="1"/>
          </p:cNvPicPr>
          <p:nvPr/>
        </p:nvPicPr>
        <p:blipFill>
          <a:blip r:embed="rId1"/>
          <a:stretch>
            <a:fillRect/>
          </a:stretch>
        </p:blipFill>
        <p:spPr>
          <a:xfrm>
            <a:off x="9646920" y="502920"/>
            <a:ext cx="1572768" cy="2286000"/>
          </a:xfrm>
          <a:prstGeom prst="rect">
            <a:avLst/>
          </a:prstGeom>
        </p:spPr>
      </p:pic>
      <p:sp>
        <p:nvSpPr>
          <p:cNvPr id="9" name="Text 6"/>
          <p:cNvSpPr/>
          <p:nvPr/>
        </p:nvSpPr>
        <p:spPr>
          <a:xfrm>
            <a:off x="1188720" y="3200400"/>
            <a:ext cx="2743200" cy="219456"/>
          </a:xfrm>
          <a:prstGeom prst="rect">
            <a:avLst/>
          </a:prstGeom>
          <a:noFill/>
          <a:ln/>
        </p:spPr>
        <p:txBody>
          <a:bodyPr wrap="square" lIns="0" tIns="0" rIns="0" bIns="0" rtlCol="0" anchor="ctr"/>
          <a:lstStyle/>
          <a:p>
            <a:pPr indent="0" marL="0">
              <a:buNone/>
            </a:pPr>
            <a:r>
              <a:rPr lang="en-US" sz="1000" b="1" spc="200" kern="0" dirty="0">
                <a:solidFill>
                  <a:srgbClr val="6B7280"/>
                </a:solidFill>
                <a:latin typeface="Arial" pitchFamily="34" charset="0"/>
                <a:ea typeface="Arial" pitchFamily="34" charset="-122"/>
                <a:cs typeface="Arial" pitchFamily="34" charset="-120"/>
              </a:rPr>
              <a:t>TODAY</a:t>
            </a:r>
            <a:endParaRPr lang="en-US" sz="1000" dirty="0"/>
          </a:p>
        </p:txBody>
      </p:sp>
      <p:sp>
        <p:nvSpPr>
          <p:cNvPr id="10" name="Text 7"/>
          <p:cNvSpPr/>
          <p:nvPr/>
        </p:nvSpPr>
        <p:spPr>
          <a:xfrm>
            <a:off x="6080760" y="3200400"/>
            <a:ext cx="3200400" cy="219456"/>
          </a:xfrm>
          <a:prstGeom prst="rect">
            <a:avLst/>
          </a:prstGeom>
          <a:noFill/>
          <a:ln/>
        </p:spPr>
        <p:txBody>
          <a:bodyPr wrap="square" lIns="0" tIns="0" rIns="0" bIns="0" rtlCol="0" anchor="ctr"/>
          <a:lstStyle/>
          <a:p>
            <a:pPr indent="0" marL="0">
              <a:buNone/>
            </a:pPr>
            <a:r>
              <a:rPr lang="en-US" sz="1000" b="1" spc="200" kern="0" dirty="0">
                <a:solidFill>
                  <a:srgbClr val="5D7A08"/>
                </a:solidFill>
                <a:latin typeface="Arial" pitchFamily="34" charset="0"/>
                <a:ea typeface="Arial" pitchFamily="34" charset="-122"/>
                <a:cs typeface="Arial" pitchFamily="34" charset="-120"/>
              </a:rPr>
              <a:t>WITH PEARLEDGER</a:t>
            </a:r>
            <a:endParaRPr lang="en-US" sz="1000" dirty="0"/>
          </a:p>
        </p:txBody>
      </p:sp>
      <p:sp>
        <p:nvSpPr>
          <p:cNvPr id="11" name="Text 8"/>
          <p:cNvSpPr/>
          <p:nvPr/>
        </p:nvSpPr>
        <p:spPr>
          <a:xfrm>
            <a:off x="685800" y="3657600"/>
            <a:ext cx="457200" cy="274320"/>
          </a:xfrm>
          <a:prstGeom prst="rect">
            <a:avLst/>
          </a:prstGeom>
          <a:noFill/>
          <a:ln/>
        </p:spPr>
        <p:txBody>
          <a:bodyPr wrap="square" lIns="0" tIns="0" rIns="0" bIns="0" rtlCol="0" anchor="ctr"/>
          <a:lstStyle/>
          <a:p>
            <a:pPr indent="0" marL="0">
              <a:buNone/>
            </a:pPr>
            <a:r>
              <a:rPr lang="en-US" sz="1200" dirty="0">
                <a:solidFill>
                  <a:srgbClr val="9CA3AF"/>
                </a:solidFill>
                <a:latin typeface="Courier New" pitchFamily="34" charset="0"/>
                <a:ea typeface="Courier New" pitchFamily="34" charset="-122"/>
                <a:cs typeface="Courier New" pitchFamily="34" charset="-120"/>
              </a:rPr>
              <a:t>01</a:t>
            </a:r>
            <a:endParaRPr lang="en-US" sz="1200" dirty="0"/>
          </a:p>
        </p:txBody>
      </p:sp>
      <p:sp>
        <p:nvSpPr>
          <p:cNvPr id="12" name="Text 9"/>
          <p:cNvSpPr/>
          <p:nvPr/>
        </p:nvSpPr>
        <p:spPr>
          <a:xfrm>
            <a:off x="1188720" y="3621024"/>
            <a:ext cx="393192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Typing every invoice by hand.</a:t>
            </a:r>
            <a:endParaRPr lang="en-US" sz="1300" dirty="0"/>
          </a:p>
        </p:txBody>
      </p:sp>
      <p:sp>
        <p:nvSpPr>
          <p:cNvPr id="13" name="Text 10"/>
          <p:cNvSpPr/>
          <p:nvPr/>
        </p:nvSpPr>
        <p:spPr>
          <a:xfrm>
            <a:off x="5257800" y="3621024"/>
            <a:ext cx="411480" cy="365760"/>
          </a:xfrm>
          <a:prstGeom prst="rect">
            <a:avLst/>
          </a:prstGeom>
          <a:noFill/>
          <a:ln/>
        </p:spPr>
        <p:txBody>
          <a:bodyPr wrap="square" lIns="0" tIns="0" rIns="0" bIns="0" rtlCol="0" anchor="ctr"/>
          <a:lstStyle/>
          <a:p>
            <a:pPr algn="ctr" indent="0" marL="0">
              <a:buNone/>
            </a:pPr>
            <a:r>
              <a:rPr lang="en-US" sz="1600" dirty="0">
                <a:solidFill>
                  <a:srgbClr val="5D7A08"/>
                </a:solidFill>
                <a:latin typeface="Arial" pitchFamily="34" charset="0"/>
                <a:ea typeface="Arial" pitchFamily="34" charset="-122"/>
                <a:cs typeface="Arial" pitchFamily="34" charset="-120"/>
              </a:rPr>
              <a:t>→</a:t>
            </a:r>
            <a:endParaRPr lang="en-US" sz="1600" dirty="0"/>
          </a:p>
        </p:txBody>
      </p:sp>
      <p:sp>
        <p:nvSpPr>
          <p:cNvPr id="14" name="Shape 11"/>
          <p:cNvSpPr/>
          <p:nvPr/>
        </p:nvSpPr>
        <p:spPr>
          <a:xfrm>
            <a:off x="5806440" y="3401568"/>
            <a:ext cx="4892040" cy="896112"/>
          </a:xfrm>
          <a:prstGeom prst="roundRect">
            <a:avLst>
              <a:gd name="adj" fmla="val 14286"/>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15" name="Shape 12"/>
          <p:cNvSpPr/>
          <p:nvPr/>
        </p:nvSpPr>
        <p:spPr>
          <a:xfrm>
            <a:off x="6025896" y="3575304"/>
            <a:ext cx="310896" cy="310896"/>
          </a:xfrm>
          <a:prstGeom prst="ellipse">
            <a:avLst/>
          </a:prstGeom>
          <a:solidFill>
            <a:srgbClr val="C4F53C"/>
          </a:solidFill>
          <a:ln w="12700">
            <a:solidFill>
              <a:srgbClr val="C4F53C"/>
            </a:solidFill>
            <a:prstDash val="solid"/>
          </a:ln>
        </p:spPr>
      </p:sp>
      <p:sp>
        <p:nvSpPr>
          <p:cNvPr id="16" name="Text 13"/>
          <p:cNvSpPr/>
          <p:nvPr/>
        </p:nvSpPr>
        <p:spPr>
          <a:xfrm>
            <a:off x="6025896" y="3575304"/>
            <a:ext cx="310896" cy="310896"/>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1</a:t>
            </a:r>
            <a:endParaRPr lang="en-US" sz="1100" dirty="0"/>
          </a:p>
        </p:txBody>
      </p:sp>
      <p:sp>
        <p:nvSpPr>
          <p:cNvPr id="17" name="Text 14"/>
          <p:cNvSpPr/>
          <p:nvPr/>
        </p:nvSpPr>
        <p:spPr>
          <a:xfrm>
            <a:off x="6428232" y="3557016"/>
            <a:ext cx="1920240" cy="274320"/>
          </a:xfrm>
          <a:prstGeom prst="rect">
            <a:avLst/>
          </a:prstGeom>
          <a:noFill/>
          <a:ln/>
        </p:spPr>
        <p:txBody>
          <a:bodyPr wrap="square" lIns="0" tIns="0" rIns="0" bIns="0" rtlCol="0" anchor="ctr"/>
          <a:lstStyle/>
          <a:p>
            <a:pPr indent="0" marL="0">
              <a:buNone/>
            </a:pPr>
            <a:r>
              <a:rPr lang="en-US" sz="1200" b="1" spc="100" kern="0" dirty="0">
                <a:solidFill>
                  <a:srgbClr val="111315"/>
                </a:solidFill>
                <a:latin typeface="Arial" pitchFamily="34" charset="0"/>
                <a:ea typeface="Arial" pitchFamily="34" charset="-122"/>
                <a:cs typeface="Arial" pitchFamily="34" charset="-120"/>
              </a:rPr>
              <a:t>INGEST</a:t>
            </a:r>
            <a:endParaRPr lang="en-US" sz="1200" dirty="0"/>
          </a:p>
        </p:txBody>
      </p:sp>
      <p:sp>
        <p:nvSpPr>
          <p:cNvPr id="18" name="Text 15"/>
          <p:cNvSpPr/>
          <p:nvPr/>
        </p:nvSpPr>
        <p:spPr>
          <a:xfrm>
            <a:off x="8321040" y="3575304"/>
            <a:ext cx="219456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urier New" pitchFamily="34" charset="0"/>
                <a:ea typeface="Courier New" pitchFamily="34" charset="-122"/>
                <a:cs typeface="Courier New" pitchFamily="34" charset="-120"/>
              </a:rPr>
              <a:t>parse_invoice</a:t>
            </a:r>
            <a:endParaRPr lang="en-US" sz="1000" dirty="0"/>
          </a:p>
        </p:txBody>
      </p:sp>
      <p:sp>
        <p:nvSpPr>
          <p:cNvPr id="19" name="Text 16"/>
          <p:cNvSpPr/>
          <p:nvPr/>
        </p:nvSpPr>
        <p:spPr>
          <a:xfrm>
            <a:off x="6428232" y="3858768"/>
            <a:ext cx="4023360" cy="329184"/>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The agent reads the document and extracts the fields.</a:t>
            </a:r>
            <a:endParaRPr lang="en-US" sz="1200" dirty="0"/>
          </a:p>
        </p:txBody>
      </p:sp>
      <p:sp>
        <p:nvSpPr>
          <p:cNvPr id="20" name="Text 17"/>
          <p:cNvSpPr/>
          <p:nvPr/>
        </p:nvSpPr>
        <p:spPr>
          <a:xfrm>
            <a:off x="685800" y="4663440"/>
            <a:ext cx="457200" cy="274320"/>
          </a:xfrm>
          <a:prstGeom prst="rect">
            <a:avLst/>
          </a:prstGeom>
          <a:noFill/>
          <a:ln/>
        </p:spPr>
        <p:txBody>
          <a:bodyPr wrap="square" lIns="0" tIns="0" rIns="0" bIns="0" rtlCol="0" anchor="ctr"/>
          <a:lstStyle/>
          <a:p>
            <a:pPr indent="0" marL="0">
              <a:buNone/>
            </a:pPr>
            <a:r>
              <a:rPr lang="en-US" sz="1200" dirty="0">
                <a:solidFill>
                  <a:srgbClr val="9CA3AF"/>
                </a:solidFill>
                <a:latin typeface="Courier New" pitchFamily="34" charset="0"/>
                <a:ea typeface="Courier New" pitchFamily="34" charset="-122"/>
                <a:cs typeface="Courier New" pitchFamily="34" charset="-120"/>
              </a:rPr>
              <a:t>02</a:t>
            </a:r>
            <a:endParaRPr lang="en-US" sz="1200" dirty="0"/>
          </a:p>
        </p:txBody>
      </p:sp>
      <p:sp>
        <p:nvSpPr>
          <p:cNvPr id="21" name="Text 18"/>
          <p:cNvSpPr/>
          <p:nvPr/>
        </p:nvSpPr>
        <p:spPr>
          <a:xfrm>
            <a:off x="1188720" y="4626864"/>
            <a:ext cx="393192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Eyeballing invoice against purchase order.</a:t>
            </a:r>
            <a:endParaRPr lang="en-US" sz="1300" dirty="0"/>
          </a:p>
        </p:txBody>
      </p:sp>
      <p:sp>
        <p:nvSpPr>
          <p:cNvPr id="22" name="Text 19"/>
          <p:cNvSpPr/>
          <p:nvPr/>
        </p:nvSpPr>
        <p:spPr>
          <a:xfrm>
            <a:off x="5257800" y="4626864"/>
            <a:ext cx="411480" cy="365760"/>
          </a:xfrm>
          <a:prstGeom prst="rect">
            <a:avLst/>
          </a:prstGeom>
          <a:noFill/>
          <a:ln/>
        </p:spPr>
        <p:txBody>
          <a:bodyPr wrap="square" lIns="0" tIns="0" rIns="0" bIns="0" rtlCol="0" anchor="ctr"/>
          <a:lstStyle/>
          <a:p>
            <a:pPr algn="ctr" indent="0" marL="0">
              <a:buNone/>
            </a:pPr>
            <a:r>
              <a:rPr lang="en-US" sz="1600" dirty="0">
                <a:solidFill>
                  <a:srgbClr val="5D7A08"/>
                </a:solidFill>
                <a:latin typeface="Arial" pitchFamily="34" charset="0"/>
                <a:ea typeface="Arial" pitchFamily="34" charset="-122"/>
                <a:cs typeface="Arial" pitchFamily="34" charset="-120"/>
              </a:rPr>
              <a:t>→</a:t>
            </a:r>
            <a:endParaRPr lang="en-US" sz="1600" dirty="0"/>
          </a:p>
        </p:txBody>
      </p:sp>
      <p:sp>
        <p:nvSpPr>
          <p:cNvPr id="23" name="Shape 20"/>
          <p:cNvSpPr/>
          <p:nvPr/>
        </p:nvSpPr>
        <p:spPr>
          <a:xfrm>
            <a:off x="5806440" y="4407408"/>
            <a:ext cx="4892040" cy="896112"/>
          </a:xfrm>
          <a:prstGeom prst="roundRect">
            <a:avLst>
              <a:gd name="adj" fmla="val 14286"/>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24" name="Shape 21"/>
          <p:cNvSpPr/>
          <p:nvPr/>
        </p:nvSpPr>
        <p:spPr>
          <a:xfrm>
            <a:off x="6025896" y="4581144"/>
            <a:ext cx="310896" cy="310896"/>
          </a:xfrm>
          <a:prstGeom prst="ellipse">
            <a:avLst/>
          </a:prstGeom>
          <a:solidFill>
            <a:srgbClr val="C4F53C"/>
          </a:solidFill>
          <a:ln w="12700">
            <a:solidFill>
              <a:srgbClr val="C4F53C"/>
            </a:solidFill>
            <a:prstDash val="solid"/>
          </a:ln>
        </p:spPr>
      </p:sp>
      <p:sp>
        <p:nvSpPr>
          <p:cNvPr id="25" name="Text 22"/>
          <p:cNvSpPr/>
          <p:nvPr/>
        </p:nvSpPr>
        <p:spPr>
          <a:xfrm>
            <a:off x="6025896" y="4581144"/>
            <a:ext cx="310896" cy="310896"/>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2</a:t>
            </a:r>
            <a:endParaRPr lang="en-US" sz="1100" dirty="0"/>
          </a:p>
        </p:txBody>
      </p:sp>
      <p:sp>
        <p:nvSpPr>
          <p:cNvPr id="26" name="Text 23"/>
          <p:cNvSpPr/>
          <p:nvPr/>
        </p:nvSpPr>
        <p:spPr>
          <a:xfrm>
            <a:off x="6428232" y="4562856"/>
            <a:ext cx="1920240" cy="274320"/>
          </a:xfrm>
          <a:prstGeom prst="rect">
            <a:avLst/>
          </a:prstGeom>
          <a:noFill/>
          <a:ln/>
        </p:spPr>
        <p:txBody>
          <a:bodyPr wrap="square" lIns="0" tIns="0" rIns="0" bIns="0" rtlCol="0" anchor="ctr"/>
          <a:lstStyle/>
          <a:p>
            <a:pPr indent="0" marL="0">
              <a:buNone/>
            </a:pPr>
            <a:r>
              <a:rPr lang="en-US" sz="1200" b="1" spc="100" kern="0" dirty="0">
                <a:solidFill>
                  <a:srgbClr val="111315"/>
                </a:solidFill>
                <a:latin typeface="Arial" pitchFamily="34" charset="0"/>
                <a:ea typeface="Arial" pitchFamily="34" charset="-122"/>
                <a:cs typeface="Arial" pitchFamily="34" charset="-120"/>
              </a:rPr>
              <a:t>UNDERSTAND</a:t>
            </a:r>
            <a:endParaRPr lang="en-US" sz="1200" dirty="0"/>
          </a:p>
        </p:txBody>
      </p:sp>
      <p:sp>
        <p:nvSpPr>
          <p:cNvPr id="27" name="Text 24"/>
          <p:cNvSpPr/>
          <p:nvPr/>
        </p:nvSpPr>
        <p:spPr>
          <a:xfrm>
            <a:off x="8321040" y="4581144"/>
            <a:ext cx="219456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urier New" pitchFamily="34" charset="0"/>
                <a:ea typeface="Courier New" pitchFamily="34" charset="-122"/>
                <a:cs typeface="Courier New" pitchFamily="34" charset="-120"/>
              </a:rPr>
              <a:t>match_purchase_order</a:t>
            </a:r>
            <a:endParaRPr lang="en-US" sz="1000" dirty="0"/>
          </a:p>
        </p:txBody>
      </p:sp>
      <p:sp>
        <p:nvSpPr>
          <p:cNvPr id="28" name="Text 25"/>
          <p:cNvSpPr/>
          <p:nvPr/>
        </p:nvSpPr>
        <p:spPr>
          <a:xfrm>
            <a:off x="6428232" y="4864608"/>
            <a:ext cx="4023360" cy="329184"/>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It reconciles on its own, with confidence and gaps.</a:t>
            </a:r>
            <a:endParaRPr lang="en-US" sz="1200" dirty="0"/>
          </a:p>
        </p:txBody>
      </p:sp>
      <p:sp>
        <p:nvSpPr>
          <p:cNvPr id="29" name="Text 26"/>
          <p:cNvSpPr/>
          <p:nvPr/>
        </p:nvSpPr>
        <p:spPr>
          <a:xfrm>
            <a:off x="685800" y="5669280"/>
            <a:ext cx="457200" cy="274320"/>
          </a:xfrm>
          <a:prstGeom prst="rect">
            <a:avLst/>
          </a:prstGeom>
          <a:noFill/>
          <a:ln/>
        </p:spPr>
        <p:txBody>
          <a:bodyPr wrap="square" lIns="0" tIns="0" rIns="0" bIns="0" rtlCol="0" anchor="ctr"/>
          <a:lstStyle/>
          <a:p>
            <a:pPr indent="0" marL="0">
              <a:buNone/>
            </a:pPr>
            <a:r>
              <a:rPr lang="en-US" sz="1200" dirty="0">
                <a:solidFill>
                  <a:srgbClr val="9CA3AF"/>
                </a:solidFill>
                <a:latin typeface="Courier New" pitchFamily="34" charset="0"/>
                <a:ea typeface="Courier New" pitchFamily="34" charset="-122"/>
                <a:cs typeface="Courier New" pitchFamily="34" charset="-120"/>
              </a:rPr>
              <a:t>03</a:t>
            </a:r>
            <a:endParaRPr lang="en-US" sz="1200" dirty="0"/>
          </a:p>
        </p:txBody>
      </p:sp>
      <p:sp>
        <p:nvSpPr>
          <p:cNvPr id="30" name="Text 27"/>
          <p:cNvSpPr/>
          <p:nvPr/>
        </p:nvSpPr>
        <p:spPr>
          <a:xfrm>
            <a:off x="1188720" y="5632704"/>
            <a:ext cx="393192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Paying fees and waiting for settlement.</a:t>
            </a:r>
            <a:endParaRPr lang="en-US" sz="1300" dirty="0"/>
          </a:p>
        </p:txBody>
      </p:sp>
      <p:sp>
        <p:nvSpPr>
          <p:cNvPr id="31" name="Text 28"/>
          <p:cNvSpPr/>
          <p:nvPr/>
        </p:nvSpPr>
        <p:spPr>
          <a:xfrm>
            <a:off x="5257800" y="5632704"/>
            <a:ext cx="411480" cy="365760"/>
          </a:xfrm>
          <a:prstGeom prst="rect">
            <a:avLst/>
          </a:prstGeom>
          <a:noFill/>
          <a:ln/>
        </p:spPr>
        <p:txBody>
          <a:bodyPr wrap="square" lIns="0" tIns="0" rIns="0" bIns="0" rtlCol="0" anchor="ctr"/>
          <a:lstStyle/>
          <a:p>
            <a:pPr algn="ctr" indent="0" marL="0">
              <a:buNone/>
            </a:pPr>
            <a:r>
              <a:rPr lang="en-US" sz="1600" dirty="0">
                <a:solidFill>
                  <a:srgbClr val="5D7A08"/>
                </a:solidFill>
                <a:latin typeface="Arial" pitchFamily="34" charset="0"/>
                <a:ea typeface="Arial" pitchFamily="34" charset="-122"/>
                <a:cs typeface="Arial" pitchFamily="34" charset="-120"/>
              </a:rPr>
              <a:t>→</a:t>
            </a:r>
            <a:endParaRPr lang="en-US" sz="1600" dirty="0"/>
          </a:p>
        </p:txBody>
      </p:sp>
      <p:sp>
        <p:nvSpPr>
          <p:cNvPr id="32" name="Shape 29"/>
          <p:cNvSpPr/>
          <p:nvPr/>
        </p:nvSpPr>
        <p:spPr>
          <a:xfrm>
            <a:off x="5806440" y="5413248"/>
            <a:ext cx="4892040" cy="896112"/>
          </a:xfrm>
          <a:prstGeom prst="roundRect">
            <a:avLst>
              <a:gd name="adj" fmla="val 14286"/>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33" name="Shape 30"/>
          <p:cNvSpPr/>
          <p:nvPr/>
        </p:nvSpPr>
        <p:spPr>
          <a:xfrm>
            <a:off x="6025896" y="5586984"/>
            <a:ext cx="310896" cy="310896"/>
          </a:xfrm>
          <a:prstGeom prst="ellipse">
            <a:avLst/>
          </a:prstGeom>
          <a:solidFill>
            <a:srgbClr val="C4F53C"/>
          </a:solidFill>
          <a:ln w="12700">
            <a:solidFill>
              <a:srgbClr val="C4F53C"/>
            </a:solidFill>
            <a:prstDash val="solid"/>
          </a:ln>
        </p:spPr>
      </p:sp>
      <p:sp>
        <p:nvSpPr>
          <p:cNvPr id="34" name="Text 31"/>
          <p:cNvSpPr/>
          <p:nvPr/>
        </p:nvSpPr>
        <p:spPr>
          <a:xfrm>
            <a:off x="6025896" y="5586984"/>
            <a:ext cx="310896" cy="310896"/>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3</a:t>
            </a:r>
            <a:endParaRPr lang="en-US" sz="1100" dirty="0"/>
          </a:p>
        </p:txBody>
      </p:sp>
      <p:sp>
        <p:nvSpPr>
          <p:cNvPr id="35" name="Text 32"/>
          <p:cNvSpPr/>
          <p:nvPr/>
        </p:nvSpPr>
        <p:spPr>
          <a:xfrm>
            <a:off x="6428232" y="5568696"/>
            <a:ext cx="1920240" cy="274320"/>
          </a:xfrm>
          <a:prstGeom prst="rect">
            <a:avLst/>
          </a:prstGeom>
          <a:noFill/>
          <a:ln/>
        </p:spPr>
        <p:txBody>
          <a:bodyPr wrap="square" lIns="0" tIns="0" rIns="0" bIns="0" rtlCol="0" anchor="ctr"/>
          <a:lstStyle/>
          <a:p>
            <a:pPr indent="0" marL="0">
              <a:buNone/>
            </a:pPr>
            <a:r>
              <a:rPr lang="en-US" sz="1200" b="1" spc="100" kern="0" dirty="0">
                <a:solidFill>
                  <a:srgbClr val="111315"/>
                </a:solidFill>
                <a:latin typeface="Arial" pitchFamily="34" charset="0"/>
                <a:ea typeface="Arial" pitchFamily="34" charset="-122"/>
                <a:cs typeface="Arial" pitchFamily="34" charset="-120"/>
              </a:rPr>
              <a:t>SETTLE</a:t>
            </a:r>
            <a:endParaRPr lang="en-US" sz="1200" dirty="0"/>
          </a:p>
        </p:txBody>
      </p:sp>
      <p:sp>
        <p:nvSpPr>
          <p:cNvPr id="36" name="Text 33"/>
          <p:cNvSpPr/>
          <p:nvPr/>
        </p:nvSpPr>
        <p:spPr>
          <a:xfrm>
            <a:off x="8321040" y="5586984"/>
            <a:ext cx="219456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urier New" pitchFamily="34" charset="0"/>
                <a:ea typeface="Courier New" pitchFamily="34" charset="-122"/>
                <a:cs typeface="Courier New" pitchFamily="34" charset="-120"/>
              </a:rPr>
              <a:t>execute_gasless_payment</a:t>
            </a:r>
            <a:endParaRPr lang="en-US" sz="1000" dirty="0"/>
          </a:p>
        </p:txBody>
      </p:sp>
      <p:sp>
        <p:nvSpPr>
          <p:cNvPr id="37" name="Text 34"/>
          <p:cNvSpPr/>
          <p:nvPr/>
        </p:nvSpPr>
        <p:spPr>
          <a:xfrm>
            <a:off x="6428232" y="5870448"/>
            <a:ext cx="4023360" cy="329184"/>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It settles in USDt with a $0.00 network fee.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85800" y="548640"/>
            <a:ext cx="6400800" cy="237744"/>
          </a:xfrm>
          <a:prstGeom prst="rect">
            <a:avLst/>
          </a:prstGeom>
          <a:noFill/>
          <a:ln/>
        </p:spPr>
        <p:txBody>
          <a:bodyPr wrap="square" lIns="0" tIns="0" rIns="0" bIns="0" rtlCol="0" anchor="ctr"/>
          <a:lstStyle/>
          <a:p>
            <a:pPr indent="0" marL="0">
              <a:buNone/>
            </a:pPr>
            <a:r>
              <a:rPr lang="en-US" sz="1100" b="1" spc="200" kern="0" dirty="0">
                <a:solidFill>
                  <a:srgbClr val="5D7A08"/>
                </a:solidFill>
                <a:latin typeface="Arial" pitchFamily="34" charset="0"/>
                <a:ea typeface="Arial" pitchFamily="34" charset="-122"/>
                <a:cs typeface="Arial" pitchFamily="34" charset="-120"/>
              </a:rPr>
              <a:t>HOW IT WORKS</a:t>
            </a:r>
            <a:endParaRPr lang="en-US" sz="1100" dirty="0"/>
          </a:p>
        </p:txBody>
      </p:sp>
      <p:sp>
        <p:nvSpPr>
          <p:cNvPr id="3" name="Text 1"/>
          <p:cNvSpPr/>
          <p:nvPr/>
        </p:nvSpPr>
        <p:spPr>
          <a:xfrm>
            <a:off x="685800" y="868680"/>
            <a:ext cx="8686800" cy="566928"/>
          </a:xfrm>
          <a:prstGeom prst="rect">
            <a:avLst/>
          </a:prstGeom>
          <a:noFill/>
          <a:ln/>
        </p:spPr>
        <p:txBody>
          <a:bodyPr wrap="square" lIns="0" tIns="0" rIns="0" bIns="0" rtlCol="0" anchor="ctr"/>
          <a:lstStyle/>
          <a:p>
            <a:pPr indent="0" marL="0">
              <a:buNone/>
            </a:pPr>
            <a:r>
              <a:rPr lang="en-US" sz="3200" b="1" dirty="0">
                <a:solidFill>
                  <a:srgbClr val="111315"/>
                </a:solidFill>
                <a:latin typeface="Arial" pitchFamily="34" charset="0"/>
                <a:ea typeface="Arial" pitchFamily="34" charset="-122"/>
                <a:cs typeface="Arial" pitchFamily="34" charset="-120"/>
              </a:rPr>
              <a:t>The agent works. You approve.</a:t>
            </a:r>
            <a:endParaRPr lang="en-US" sz="3200" dirty="0"/>
          </a:p>
        </p:txBody>
      </p:sp>
      <p:sp>
        <p:nvSpPr>
          <p:cNvPr id="4" name="Text 2"/>
          <p:cNvSpPr/>
          <p:nvPr/>
        </p:nvSpPr>
        <p:spPr>
          <a:xfrm>
            <a:off x="685800" y="1490472"/>
            <a:ext cx="8686800" cy="29260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What it read, what it matched and what it is about to pay, in plain sight.</a:t>
            </a:r>
            <a:endParaRPr lang="en-US" sz="1500" dirty="0"/>
          </a:p>
        </p:txBody>
      </p:sp>
      <p:sp>
        <p:nvSpPr>
          <p:cNvPr id="5" name="Shape 3"/>
          <p:cNvSpPr/>
          <p:nvPr/>
        </p:nvSpPr>
        <p:spPr>
          <a:xfrm>
            <a:off x="685800" y="2084832"/>
            <a:ext cx="5486400" cy="969264"/>
          </a:xfrm>
          <a:prstGeom prst="roundRect">
            <a:avLst>
              <a:gd name="adj" fmla="val 13208"/>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6" name="Shape 4"/>
          <p:cNvSpPr/>
          <p:nvPr/>
        </p:nvSpPr>
        <p:spPr>
          <a:xfrm>
            <a:off x="923544" y="2377440"/>
            <a:ext cx="384048" cy="384048"/>
          </a:xfrm>
          <a:prstGeom prst="ellipse">
            <a:avLst/>
          </a:prstGeom>
          <a:solidFill>
            <a:srgbClr val="C4F53C"/>
          </a:solidFill>
          <a:ln w="12700">
            <a:solidFill>
              <a:srgbClr val="C4F53C"/>
            </a:solidFill>
            <a:prstDash val="solid"/>
          </a:ln>
        </p:spPr>
      </p:sp>
      <p:sp>
        <p:nvSpPr>
          <p:cNvPr id="7" name="Text 5"/>
          <p:cNvSpPr/>
          <p:nvPr/>
        </p:nvSpPr>
        <p:spPr>
          <a:xfrm>
            <a:off x="923544" y="2377440"/>
            <a:ext cx="384048" cy="384048"/>
          </a:xfrm>
          <a:prstGeom prst="rect">
            <a:avLst/>
          </a:prstGeom>
          <a:noFill/>
          <a:ln/>
        </p:spPr>
        <p:txBody>
          <a:bodyPr wrap="square" lIns="0" tIns="0" rIns="0" bIns="0" rtlCol="0" anchor="ctr"/>
          <a:lstStyle/>
          <a:p>
            <a:pPr algn="ctr" indent="0" marL="0">
              <a:buNone/>
            </a:pPr>
            <a:r>
              <a:rPr lang="en-US" sz="1200" b="1" dirty="0">
                <a:solidFill>
                  <a:srgbClr val="111315"/>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463040" y="2249424"/>
            <a:ext cx="2377440" cy="274320"/>
          </a:xfrm>
          <a:prstGeom prst="rect">
            <a:avLst/>
          </a:prstGeom>
          <a:noFill/>
          <a:ln/>
        </p:spPr>
        <p:txBody>
          <a:bodyPr wrap="square" lIns="0" tIns="0" rIns="0" bIns="0" rtlCol="0" anchor="ctr"/>
          <a:lstStyle/>
          <a:p>
            <a:pPr indent="0" marL="0">
              <a:buNone/>
            </a:pPr>
            <a:r>
              <a:rPr lang="en-US" sz="1300" b="1" spc="100" kern="0" dirty="0">
                <a:solidFill>
                  <a:srgbClr val="111315"/>
                </a:solidFill>
                <a:latin typeface="Arial" pitchFamily="34" charset="0"/>
                <a:ea typeface="Arial" pitchFamily="34" charset="-122"/>
                <a:cs typeface="Arial" pitchFamily="34" charset="-120"/>
              </a:rPr>
              <a:t>INGEST</a:t>
            </a:r>
            <a:endParaRPr lang="en-US" sz="1300" dirty="0"/>
          </a:p>
        </p:txBody>
      </p:sp>
      <p:sp>
        <p:nvSpPr>
          <p:cNvPr id="9" name="Text 7"/>
          <p:cNvSpPr/>
          <p:nvPr/>
        </p:nvSpPr>
        <p:spPr>
          <a:xfrm>
            <a:off x="3611880" y="2267712"/>
            <a:ext cx="237744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urier New" pitchFamily="34" charset="0"/>
                <a:ea typeface="Courier New" pitchFamily="34" charset="-122"/>
                <a:cs typeface="Courier New" pitchFamily="34" charset="-120"/>
              </a:rPr>
              <a:t>parse_invoice</a:t>
            </a:r>
            <a:endParaRPr lang="en-US" sz="1000" dirty="0"/>
          </a:p>
        </p:txBody>
      </p:sp>
      <p:sp>
        <p:nvSpPr>
          <p:cNvPr id="10" name="Text 8"/>
          <p:cNvSpPr/>
          <p:nvPr/>
        </p:nvSpPr>
        <p:spPr>
          <a:xfrm>
            <a:off x="1463040" y="2587752"/>
            <a:ext cx="4480560" cy="329184"/>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Local OCR of the document and field extraction.</a:t>
            </a:r>
            <a:endParaRPr lang="en-US" sz="1200" dirty="0"/>
          </a:p>
        </p:txBody>
      </p:sp>
      <p:sp>
        <p:nvSpPr>
          <p:cNvPr id="11" name="Shape 9"/>
          <p:cNvSpPr/>
          <p:nvPr/>
        </p:nvSpPr>
        <p:spPr>
          <a:xfrm>
            <a:off x="685800" y="3218688"/>
            <a:ext cx="5486400" cy="969264"/>
          </a:xfrm>
          <a:prstGeom prst="roundRect">
            <a:avLst>
              <a:gd name="adj" fmla="val 13208"/>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12" name="Shape 10"/>
          <p:cNvSpPr/>
          <p:nvPr/>
        </p:nvSpPr>
        <p:spPr>
          <a:xfrm>
            <a:off x="923544" y="3511296"/>
            <a:ext cx="384048" cy="384048"/>
          </a:xfrm>
          <a:prstGeom prst="ellipse">
            <a:avLst/>
          </a:prstGeom>
          <a:solidFill>
            <a:srgbClr val="C4F53C"/>
          </a:solidFill>
          <a:ln w="12700">
            <a:solidFill>
              <a:srgbClr val="C4F53C"/>
            </a:solidFill>
            <a:prstDash val="solid"/>
          </a:ln>
        </p:spPr>
      </p:sp>
      <p:sp>
        <p:nvSpPr>
          <p:cNvPr id="13" name="Text 11"/>
          <p:cNvSpPr/>
          <p:nvPr/>
        </p:nvSpPr>
        <p:spPr>
          <a:xfrm>
            <a:off x="923544" y="3511296"/>
            <a:ext cx="384048" cy="384048"/>
          </a:xfrm>
          <a:prstGeom prst="rect">
            <a:avLst/>
          </a:prstGeom>
          <a:noFill/>
          <a:ln/>
        </p:spPr>
        <p:txBody>
          <a:bodyPr wrap="square" lIns="0" tIns="0" rIns="0" bIns="0" rtlCol="0" anchor="ctr"/>
          <a:lstStyle/>
          <a:p>
            <a:pPr algn="ctr" indent="0" marL="0">
              <a:buNone/>
            </a:pPr>
            <a:r>
              <a:rPr lang="en-US" sz="1200" b="1" dirty="0">
                <a:solidFill>
                  <a:srgbClr val="111315"/>
                </a:solidFill>
                <a:latin typeface="Arial" pitchFamily="34" charset="0"/>
                <a:ea typeface="Arial" pitchFamily="34" charset="-122"/>
                <a:cs typeface="Arial" pitchFamily="34" charset="-120"/>
              </a:rPr>
              <a:t>2</a:t>
            </a:r>
            <a:endParaRPr lang="en-US" sz="1200" dirty="0"/>
          </a:p>
        </p:txBody>
      </p:sp>
      <p:sp>
        <p:nvSpPr>
          <p:cNvPr id="14" name="Text 12"/>
          <p:cNvSpPr/>
          <p:nvPr/>
        </p:nvSpPr>
        <p:spPr>
          <a:xfrm>
            <a:off x="1463040" y="3383280"/>
            <a:ext cx="2377440" cy="274320"/>
          </a:xfrm>
          <a:prstGeom prst="rect">
            <a:avLst/>
          </a:prstGeom>
          <a:noFill/>
          <a:ln/>
        </p:spPr>
        <p:txBody>
          <a:bodyPr wrap="square" lIns="0" tIns="0" rIns="0" bIns="0" rtlCol="0" anchor="ctr"/>
          <a:lstStyle/>
          <a:p>
            <a:pPr indent="0" marL="0">
              <a:buNone/>
            </a:pPr>
            <a:r>
              <a:rPr lang="en-US" sz="1300" b="1" spc="100" kern="0" dirty="0">
                <a:solidFill>
                  <a:srgbClr val="111315"/>
                </a:solidFill>
                <a:latin typeface="Arial" pitchFamily="34" charset="0"/>
                <a:ea typeface="Arial" pitchFamily="34" charset="-122"/>
                <a:cs typeface="Arial" pitchFamily="34" charset="-120"/>
              </a:rPr>
              <a:t>UNDERSTAND</a:t>
            </a:r>
            <a:endParaRPr lang="en-US" sz="1300" dirty="0"/>
          </a:p>
        </p:txBody>
      </p:sp>
      <p:sp>
        <p:nvSpPr>
          <p:cNvPr id="15" name="Text 13"/>
          <p:cNvSpPr/>
          <p:nvPr/>
        </p:nvSpPr>
        <p:spPr>
          <a:xfrm>
            <a:off x="3611880" y="3401568"/>
            <a:ext cx="237744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urier New" pitchFamily="34" charset="0"/>
                <a:ea typeface="Courier New" pitchFamily="34" charset="-122"/>
                <a:cs typeface="Courier New" pitchFamily="34" charset="-120"/>
              </a:rPr>
              <a:t>match_purchase_order</a:t>
            </a:r>
            <a:endParaRPr lang="en-US" sz="1000" dirty="0"/>
          </a:p>
        </p:txBody>
      </p:sp>
      <p:sp>
        <p:nvSpPr>
          <p:cNvPr id="16" name="Text 14"/>
          <p:cNvSpPr/>
          <p:nvPr/>
        </p:nvSpPr>
        <p:spPr>
          <a:xfrm>
            <a:off x="1463040" y="3721608"/>
            <a:ext cx="4480560" cy="329184"/>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Matches it against the purchase order and flags gaps.</a:t>
            </a:r>
            <a:endParaRPr lang="en-US" sz="1200" dirty="0"/>
          </a:p>
        </p:txBody>
      </p:sp>
      <p:sp>
        <p:nvSpPr>
          <p:cNvPr id="17" name="Shape 15"/>
          <p:cNvSpPr/>
          <p:nvPr/>
        </p:nvSpPr>
        <p:spPr>
          <a:xfrm>
            <a:off x="685800" y="4352544"/>
            <a:ext cx="5486400" cy="969264"/>
          </a:xfrm>
          <a:prstGeom prst="roundRect">
            <a:avLst>
              <a:gd name="adj" fmla="val 13208"/>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18" name="Shape 16"/>
          <p:cNvSpPr/>
          <p:nvPr/>
        </p:nvSpPr>
        <p:spPr>
          <a:xfrm>
            <a:off x="923544" y="4645152"/>
            <a:ext cx="384048" cy="384048"/>
          </a:xfrm>
          <a:prstGeom prst="ellipse">
            <a:avLst/>
          </a:prstGeom>
          <a:solidFill>
            <a:srgbClr val="C4F53C"/>
          </a:solidFill>
          <a:ln w="12700">
            <a:solidFill>
              <a:srgbClr val="C4F53C"/>
            </a:solidFill>
            <a:prstDash val="solid"/>
          </a:ln>
        </p:spPr>
      </p:sp>
      <p:sp>
        <p:nvSpPr>
          <p:cNvPr id="19" name="Text 17"/>
          <p:cNvSpPr/>
          <p:nvPr/>
        </p:nvSpPr>
        <p:spPr>
          <a:xfrm>
            <a:off x="923544" y="4645152"/>
            <a:ext cx="384048" cy="384048"/>
          </a:xfrm>
          <a:prstGeom prst="rect">
            <a:avLst/>
          </a:prstGeom>
          <a:noFill/>
          <a:ln/>
        </p:spPr>
        <p:txBody>
          <a:bodyPr wrap="square" lIns="0" tIns="0" rIns="0" bIns="0" rtlCol="0" anchor="ctr"/>
          <a:lstStyle/>
          <a:p>
            <a:pPr algn="ctr" indent="0" marL="0">
              <a:buNone/>
            </a:pPr>
            <a:r>
              <a:rPr lang="en-US" sz="1200" b="1" dirty="0">
                <a:solidFill>
                  <a:srgbClr val="111315"/>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1463040" y="4517136"/>
            <a:ext cx="2377440" cy="274320"/>
          </a:xfrm>
          <a:prstGeom prst="rect">
            <a:avLst/>
          </a:prstGeom>
          <a:noFill/>
          <a:ln/>
        </p:spPr>
        <p:txBody>
          <a:bodyPr wrap="square" lIns="0" tIns="0" rIns="0" bIns="0" rtlCol="0" anchor="ctr"/>
          <a:lstStyle/>
          <a:p>
            <a:pPr indent="0" marL="0">
              <a:buNone/>
            </a:pPr>
            <a:r>
              <a:rPr lang="en-US" sz="1300" b="1" spc="100" kern="0" dirty="0">
                <a:solidFill>
                  <a:srgbClr val="111315"/>
                </a:solidFill>
                <a:latin typeface="Arial" pitchFamily="34" charset="0"/>
                <a:ea typeface="Arial" pitchFamily="34" charset="-122"/>
                <a:cs typeface="Arial" pitchFamily="34" charset="-120"/>
              </a:rPr>
              <a:t>SETTLE</a:t>
            </a:r>
            <a:endParaRPr lang="en-US" sz="1300" dirty="0"/>
          </a:p>
        </p:txBody>
      </p:sp>
      <p:sp>
        <p:nvSpPr>
          <p:cNvPr id="21" name="Text 19"/>
          <p:cNvSpPr/>
          <p:nvPr/>
        </p:nvSpPr>
        <p:spPr>
          <a:xfrm>
            <a:off x="3611880" y="4535424"/>
            <a:ext cx="237744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urier New" pitchFamily="34" charset="0"/>
                <a:ea typeface="Courier New" pitchFamily="34" charset="-122"/>
                <a:cs typeface="Courier New" pitchFamily="34" charset="-120"/>
              </a:rPr>
              <a:t>execute_gasless_payment</a:t>
            </a:r>
            <a:endParaRPr lang="en-US" sz="1000" dirty="0"/>
          </a:p>
        </p:txBody>
      </p:sp>
      <p:sp>
        <p:nvSpPr>
          <p:cNvPr id="22" name="Text 20"/>
          <p:cNvSpPr/>
          <p:nvPr/>
        </p:nvSpPr>
        <p:spPr>
          <a:xfrm>
            <a:off x="1463040" y="4855464"/>
            <a:ext cx="4480560" cy="329184"/>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Settles in USDt through a paymaster, with no network fee.</a:t>
            </a:r>
            <a:endParaRPr lang="en-US" sz="1200" dirty="0"/>
          </a:p>
        </p:txBody>
      </p:sp>
      <p:sp>
        <p:nvSpPr>
          <p:cNvPr id="23" name="Shape 21"/>
          <p:cNvSpPr/>
          <p:nvPr/>
        </p:nvSpPr>
        <p:spPr>
          <a:xfrm>
            <a:off x="6720840" y="2084832"/>
            <a:ext cx="4754880" cy="2944368"/>
          </a:xfrm>
          <a:prstGeom prst="roundRect">
            <a:avLst>
              <a:gd name="adj" fmla="val 4969"/>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24" name="Text 22"/>
          <p:cNvSpPr/>
          <p:nvPr/>
        </p:nvSpPr>
        <p:spPr>
          <a:xfrm>
            <a:off x="7031736" y="2286000"/>
            <a:ext cx="3017520" cy="274320"/>
          </a:xfrm>
          <a:prstGeom prst="rect">
            <a:avLst/>
          </a:prstGeom>
          <a:noFill/>
          <a:ln/>
        </p:spPr>
        <p:txBody>
          <a:bodyPr wrap="square" lIns="0" tIns="0" rIns="0" bIns="0" rtlCol="0" anchor="ctr"/>
          <a:lstStyle/>
          <a:p>
            <a:pPr indent="0" marL="0">
              <a:buNone/>
            </a:pPr>
            <a:r>
              <a:rPr lang="en-US" sz="1300" b="1" dirty="0">
                <a:solidFill>
                  <a:srgbClr val="111315"/>
                </a:solidFill>
                <a:latin typeface="Arial" pitchFamily="34" charset="0"/>
                <a:ea typeface="Arial" pitchFamily="34" charset="-122"/>
                <a:cs typeface="Arial" pitchFamily="34" charset="-120"/>
              </a:rPr>
              <a:t>Last invoice processed</a:t>
            </a:r>
            <a:endParaRPr lang="en-US" sz="1300" dirty="0"/>
          </a:p>
        </p:txBody>
      </p:sp>
      <p:sp>
        <p:nvSpPr>
          <p:cNvPr id="25" name="Text 23"/>
          <p:cNvSpPr/>
          <p:nvPr/>
        </p:nvSpPr>
        <p:spPr>
          <a:xfrm>
            <a:off x="10122408" y="2286000"/>
            <a:ext cx="1051560" cy="274320"/>
          </a:xfrm>
          <a:prstGeom prst="roundRect">
            <a:avLst>
              <a:gd name="adj" fmla="val 50000"/>
            </a:avLst>
          </a:prstGeom>
          <a:solidFill>
            <a:srgbClr val="EEFAC9"/>
          </a:solidFill>
          <a:ln w="12700">
            <a:solidFill>
              <a:srgbClr val="EEFAC9"/>
            </a:solidFill>
          </a:ln>
        </p:spPr>
        <p:txBody>
          <a:bodyPr wrap="square" lIns="0" tIns="0" rIns="0" bIns="0" rtlCol="0" anchor="ctr"/>
          <a:lstStyle/>
          <a:p>
            <a:pPr algn="ctr" indent="0" marL="0">
              <a:buNone/>
            </a:pPr>
            <a:r>
              <a:rPr lang="en-US" sz="1000" b="1" dirty="0">
                <a:solidFill>
                  <a:srgbClr val="5D7A08"/>
                </a:solidFill>
                <a:latin typeface="Arial" pitchFamily="34" charset="0"/>
                <a:ea typeface="Arial" pitchFamily="34" charset="-122"/>
                <a:cs typeface="Arial" pitchFamily="34" charset="-120"/>
              </a:rPr>
              <a:t>Processed</a:t>
            </a:r>
            <a:endParaRPr lang="en-US" sz="1000" dirty="0"/>
          </a:p>
        </p:txBody>
      </p:sp>
      <p:sp>
        <p:nvSpPr>
          <p:cNvPr id="26" name="Text 24"/>
          <p:cNvSpPr/>
          <p:nvPr/>
        </p:nvSpPr>
        <p:spPr>
          <a:xfrm>
            <a:off x="7031736" y="2724912"/>
            <a:ext cx="237744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Vendor</a:t>
            </a:r>
            <a:endParaRPr lang="en-US" sz="1200" dirty="0"/>
          </a:p>
        </p:txBody>
      </p:sp>
      <p:sp>
        <p:nvSpPr>
          <p:cNvPr id="27" name="Text 25"/>
          <p:cNvSpPr/>
          <p:nvPr/>
        </p:nvSpPr>
        <p:spPr>
          <a:xfrm>
            <a:off x="8732520" y="2724912"/>
            <a:ext cx="2432304" cy="274320"/>
          </a:xfrm>
          <a:prstGeom prst="rect">
            <a:avLst/>
          </a:prstGeom>
          <a:noFill/>
          <a:ln/>
        </p:spPr>
        <p:txBody>
          <a:bodyPr wrap="square" lIns="0" tIns="0" rIns="0" bIns="0" rtlCol="0" anchor="ctr"/>
          <a:lstStyle/>
          <a:p>
            <a:pPr algn="r" indent="0" marL="0">
              <a:buNone/>
            </a:pPr>
            <a:r>
              <a:rPr lang="en-US" sz="1200" dirty="0">
                <a:solidFill>
                  <a:srgbClr val="111315"/>
                </a:solidFill>
                <a:latin typeface="Courier New" pitchFamily="34" charset="0"/>
                <a:ea typeface="Courier New" pitchFamily="34" charset="-122"/>
                <a:cs typeface="Courier New" pitchFamily="34" charset="-120"/>
              </a:rPr>
              <a:t>ACME S.R.L.</a:t>
            </a:r>
            <a:endParaRPr lang="en-US" sz="1200" dirty="0"/>
          </a:p>
        </p:txBody>
      </p:sp>
      <p:sp>
        <p:nvSpPr>
          <p:cNvPr id="28" name="Text 26"/>
          <p:cNvSpPr/>
          <p:nvPr/>
        </p:nvSpPr>
        <p:spPr>
          <a:xfrm>
            <a:off x="7031736" y="3035808"/>
            <a:ext cx="237744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Number</a:t>
            </a:r>
            <a:endParaRPr lang="en-US" sz="1200" dirty="0"/>
          </a:p>
        </p:txBody>
      </p:sp>
      <p:sp>
        <p:nvSpPr>
          <p:cNvPr id="29" name="Text 27"/>
          <p:cNvSpPr/>
          <p:nvPr/>
        </p:nvSpPr>
        <p:spPr>
          <a:xfrm>
            <a:off x="8732520" y="3035808"/>
            <a:ext cx="2432304" cy="274320"/>
          </a:xfrm>
          <a:prstGeom prst="rect">
            <a:avLst/>
          </a:prstGeom>
          <a:noFill/>
          <a:ln/>
        </p:spPr>
        <p:txBody>
          <a:bodyPr wrap="square" lIns="0" tIns="0" rIns="0" bIns="0" rtlCol="0" anchor="ctr"/>
          <a:lstStyle/>
          <a:p>
            <a:pPr algn="r" indent="0" marL="0">
              <a:buNone/>
            </a:pPr>
            <a:r>
              <a:rPr lang="en-US" sz="1200" dirty="0">
                <a:solidFill>
                  <a:srgbClr val="111315"/>
                </a:solidFill>
                <a:latin typeface="Courier New" pitchFamily="34" charset="0"/>
                <a:ea typeface="Courier New" pitchFamily="34" charset="-122"/>
                <a:cs typeface="Courier New" pitchFamily="34" charset="-120"/>
              </a:rPr>
              <a:t>INV-0421</a:t>
            </a:r>
            <a:endParaRPr lang="en-US" sz="1200" dirty="0"/>
          </a:p>
        </p:txBody>
      </p:sp>
      <p:sp>
        <p:nvSpPr>
          <p:cNvPr id="30" name="Text 28"/>
          <p:cNvSpPr/>
          <p:nvPr/>
        </p:nvSpPr>
        <p:spPr>
          <a:xfrm>
            <a:off x="7031736" y="3346704"/>
            <a:ext cx="237744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Total</a:t>
            </a:r>
            <a:endParaRPr lang="en-US" sz="1200" dirty="0"/>
          </a:p>
        </p:txBody>
      </p:sp>
      <p:sp>
        <p:nvSpPr>
          <p:cNvPr id="31" name="Text 29"/>
          <p:cNvSpPr/>
          <p:nvPr/>
        </p:nvSpPr>
        <p:spPr>
          <a:xfrm>
            <a:off x="8732520" y="3346704"/>
            <a:ext cx="2432304" cy="274320"/>
          </a:xfrm>
          <a:prstGeom prst="rect">
            <a:avLst/>
          </a:prstGeom>
          <a:noFill/>
          <a:ln/>
        </p:spPr>
        <p:txBody>
          <a:bodyPr wrap="square" lIns="0" tIns="0" rIns="0" bIns="0" rtlCol="0" anchor="ctr"/>
          <a:lstStyle/>
          <a:p>
            <a:pPr algn="r" indent="0" marL="0">
              <a:buNone/>
            </a:pPr>
            <a:r>
              <a:rPr lang="en-US" sz="1200" dirty="0">
                <a:solidFill>
                  <a:srgbClr val="111315"/>
                </a:solidFill>
                <a:latin typeface="Courier New" pitchFamily="34" charset="0"/>
                <a:ea typeface="Courier New" pitchFamily="34" charset="-122"/>
                <a:cs typeface="Courier New" pitchFamily="34" charset="-120"/>
              </a:rPr>
              <a:t>USD 1,240.00</a:t>
            </a:r>
            <a:endParaRPr lang="en-US" sz="1200" dirty="0"/>
          </a:p>
        </p:txBody>
      </p:sp>
      <p:sp>
        <p:nvSpPr>
          <p:cNvPr id="32" name="Text 30"/>
          <p:cNvSpPr/>
          <p:nvPr/>
        </p:nvSpPr>
        <p:spPr>
          <a:xfrm>
            <a:off x="7031736" y="3657600"/>
            <a:ext cx="237744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Line items</a:t>
            </a:r>
            <a:endParaRPr lang="en-US" sz="1200" dirty="0"/>
          </a:p>
        </p:txBody>
      </p:sp>
      <p:sp>
        <p:nvSpPr>
          <p:cNvPr id="33" name="Text 31"/>
          <p:cNvSpPr/>
          <p:nvPr/>
        </p:nvSpPr>
        <p:spPr>
          <a:xfrm>
            <a:off x="8732520" y="3657600"/>
            <a:ext cx="2432304" cy="274320"/>
          </a:xfrm>
          <a:prstGeom prst="rect">
            <a:avLst/>
          </a:prstGeom>
          <a:noFill/>
          <a:ln/>
        </p:spPr>
        <p:txBody>
          <a:bodyPr wrap="square" lIns="0" tIns="0" rIns="0" bIns="0" rtlCol="0" anchor="ctr"/>
          <a:lstStyle/>
          <a:p>
            <a:pPr algn="r" indent="0" marL="0">
              <a:buNone/>
            </a:pPr>
            <a:r>
              <a:rPr lang="en-US" sz="1200" dirty="0">
                <a:solidFill>
                  <a:srgbClr val="111315"/>
                </a:solidFill>
                <a:latin typeface="Courier New" pitchFamily="34" charset="0"/>
                <a:ea typeface="Courier New" pitchFamily="34" charset="-122"/>
                <a:cs typeface="Courier New" pitchFamily="34" charset="-120"/>
              </a:rPr>
              <a:t>4</a:t>
            </a:r>
            <a:endParaRPr lang="en-US" sz="1200" dirty="0"/>
          </a:p>
        </p:txBody>
      </p:sp>
      <p:sp>
        <p:nvSpPr>
          <p:cNvPr id="34" name="Text 32"/>
          <p:cNvSpPr/>
          <p:nvPr/>
        </p:nvSpPr>
        <p:spPr>
          <a:xfrm>
            <a:off x="7031736" y="3968496"/>
            <a:ext cx="237744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OCR confidence</a:t>
            </a:r>
            <a:endParaRPr lang="en-US" sz="1200" dirty="0"/>
          </a:p>
        </p:txBody>
      </p:sp>
      <p:sp>
        <p:nvSpPr>
          <p:cNvPr id="35" name="Text 33"/>
          <p:cNvSpPr/>
          <p:nvPr/>
        </p:nvSpPr>
        <p:spPr>
          <a:xfrm>
            <a:off x="8732520" y="3968496"/>
            <a:ext cx="2432304" cy="274320"/>
          </a:xfrm>
          <a:prstGeom prst="rect">
            <a:avLst/>
          </a:prstGeom>
          <a:noFill/>
          <a:ln/>
        </p:spPr>
        <p:txBody>
          <a:bodyPr wrap="square" lIns="0" tIns="0" rIns="0" bIns="0" rtlCol="0" anchor="ctr"/>
          <a:lstStyle/>
          <a:p>
            <a:pPr algn="r" indent="0" marL="0">
              <a:buNone/>
            </a:pPr>
            <a:r>
              <a:rPr lang="en-US" sz="1200" dirty="0">
                <a:solidFill>
                  <a:srgbClr val="111315"/>
                </a:solidFill>
                <a:latin typeface="Courier New" pitchFamily="34" charset="0"/>
                <a:ea typeface="Courier New" pitchFamily="34" charset="-122"/>
                <a:cs typeface="Courier New" pitchFamily="34" charset="-120"/>
              </a:rPr>
              <a:t>98%</a:t>
            </a:r>
            <a:endParaRPr lang="en-US" sz="1200" dirty="0"/>
          </a:p>
        </p:txBody>
      </p:sp>
      <p:sp>
        <p:nvSpPr>
          <p:cNvPr id="36" name="Text 34"/>
          <p:cNvSpPr/>
          <p:nvPr/>
        </p:nvSpPr>
        <p:spPr>
          <a:xfrm>
            <a:off x="7031736" y="4279392"/>
            <a:ext cx="237744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Matched against</a:t>
            </a:r>
            <a:endParaRPr lang="en-US" sz="1200" dirty="0"/>
          </a:p>
        </p:txBody>
      </p:sp>
      <p:sp>
        <p:nvSpPr>
          <p:cNvPr id="37" name="Text 35"/>
          <p:cNvSpPr/>
          <p:nvPr/>
        </p:nvSpPr>
        <p:spPr>
          <a:xfrm>
            <a:off x="8732520" y="4279392"/>
            <a:ext cx="2432304" cy="274320"/>
          </a:xfrm>
          <a:prstGeom prst="rect">
            <a:avLst/>
          </a:prstGeom>
          <a:noFill/>
          <a:ln/>
        </p:spPr>
        <p:txBody>
          <a:bodyPr wrap="square" lIns="0" tIns="0" rIns="0" bIns="0" rtlCol="0" anchor="ctr"/>
          <a:lstStyle/>
          <a:p>
            <a:pPr algn="r" indent="0" marL="0">
              <a:buNone/>
            </a:pPr>
            <a:r>
              <a:rPr lang="en-US" sz="1200" dirty="0">
                <a:solidFill>
                  <a:srgbClr val="111315"/>
                </a:solidFill>
                <a:latin typeface="Courier New" pitchFamily="34" charset="0"/>
                <a:ea typeface="Courier New" pitchFamily="34" charset="-122"/>
                <a:cs typeface="Courier New" pitchFamily="34" charset="-120"/>
              </a:rPr>
              <a:t>PO-2291</a:t>
            </a:r>
            <a:endParaRPr lang="en-US" sz="1200" dirty="0"/>
          </a:p>
        </p:txBody>
      </p:sp>
      <p:sp>
        <p:nvSpPr>
          <p:cNvPr id="38" name="Text 36"/>
          <p:cNvSpPr/>
          <p:nvPr/>
        </p:nvSpPr>
        <p:spPr>
          <a:xfrm>
            <a:off x="7031736" y="4590288"/>
            <a:ext cx="2377440" cy="27432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Network fee</a:t>
            </a:r>
            <a:endParaRPr lang="en-US" sz="1200" dirty="0"/>
          </a:p>
        </p:txBody>
      </p:sp>
      <p:sp>
        <p:nvSpPr>
          <p:cNvPr id="39" name="Text 37"/>
          <p:cNvSpPr/>
          <p:nvPr/>
        </p:nvSpPr>
        <p:spPr>
          <a:xfrm>
            <a:off x="8732520" y="4590288"/>
            <a:ext cx="2432304" cy="274320"/>
          </a:xfrm>
          <a:prstGeom prst="rect">
            <a:avLst/>
          </a:prstGeom>
          <a:noFill/>
          <a:ln/>
        </p:spPr>
        <p:txBody>
          <a:bodyPr wrap="square" lIns="0" tIns="0" rIns="0" bIns="0" rtlCol="0" anchor="ctr"/>
          <a:lstStyle/>
          <a:p>
            <a:pPr algn="r" indent="0" marL="0">
              <a:buNone/>
            </a:pPr>
            <a:r>
              <a:rPr lang="en-US" sz="1200" b="1" dirty="0">
                <a:solidFill>
                  <a:srgbClr val="5D7A08"/>
                </a:solidFill>
                <a:latin typeface="Courier New" pitchFamily="34" charset="0"/>
                <a:ea typeface="Courier New" pitchFamily="34" charset="-122"/>
                <a:cs typeface="Courier New" pitchFamily="34" charset="-120"/>
              </a:rPr>
              <a:t>$0.00</a:t>
            </a:r>
            <a:endParaRPr lang="en-US" sz="1200" dirty="0"/>
          </a:p>
        </p:txBody>
      </p:sp>
      <p:sp>
        <p:nvSpPr>
          <p:cNvPr id="40" name="Text 38"/>
          <p:cNvSpPr/>
          <p:nvPr/>
        </p:nvSpPr>
        <p:spPr>
          <a:xfrm>
            <a:off x="685800" y="5541264"/>
            <a:ext cx="2651760" cy="457200"/>
          </a:xfrm>
          <a:prstGeom prst="rect">
            <a:avLst/>
          </a:prstGeom>
          <a:noFill/>
          <a:ln/>
        </p:spPr>
        <p:txBody>
          <a:bodyPr wrap="square" lIns="0" tIns="0" rIns="0" bIns="0" rtlCol="0" anchor="ctr"/>
          <a:lstStyle/>
          <a:p>
            <a:pPr indent="0" marL="0">
              <a:buNone/>
            </a:pPr>
            <a:r>
              <a:rPr lang="en-US" sz="2800" b="1" dirty="0">
                <a:solidFill>
                  <a:srgbClr val="111315"/>
                </a:solidFill>
                <a:latin typeface="Arial" pitchFamily="34" charset="0"/>
                <a:ea typeface="Arial" pitchFamily="34" charset="-122"/>
                <a:cs typeface="Arial" pitchFamily="34" charset="-120"/>
              </a:rPr>
              <a:t>98%</a:t>
            </a:r>
            <a:endParaRPr lang="en-US" sz="2800" dirty="0"/>
          </a:p>
        </p:txBody>
      </p:sp>
      <p:sp>
        <p:nvSpPr>
          <p:cNvPr id="41" name="Text 39"/>
          <p:cNvSpPr/>
          <p:nvPr/>
        </p:nvSpPr>
        <p:spPr>
          <a:xfrm>
            <a:off x="685800" y="6035040"/>
            <a:ext cx="2651760" cy="27432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OCR confidence</a:t>
            </a:r>
            <a:endParaRPr lang="en-US" sz="1100" dirty="0"/>
          </a:p>
        </p:txBody>
      </p:sp>
      <p:sp>
        <p:nvSpPr>
          <p:cNvPr id="42" name="Text 40"/>
          <p:cNvSpPr/>
          <p:nvPr/>
        </p:nvSpPr>
        <p:spPr>
          <a:xfrm>
            <a:off x="3483864" y="5541264"/>
            <a:ext cx="2651760" cy="457200"/>
          </a:xfrm>
          <a:prstGeom prst="rect">
            <a:avLst/>
          </a:prstGeom>
          <a:noFill/>
          <a:ln/>
        </p:spPr>
        <p:txBody>
          <a:bodyPr wrap="square" lIns="0" tIns="0" rIns="0" bIns="0" rtlCol="0" anchor="ctr"/>
          <a:lstStyle/>
          <a:p>
            <a:pPr indent="0" marL="0">
              <a:buNone/>
            </a:pPr>
            <a:r>
              <a:rPr lang="en-US" sz="2800" b="1" dirty="0">
                <a:solidFill>
                  <a:srgbClr val="111315"/>
                </a:solidFill>
                <a:latin typeface="Arial" pitchFamily="34" charset="0"/>
                <a:ea typeface="Arial" pitchFamily="34" charset="-122"/>
                <a:cs typeface="Arial" pitchFamily="34" charset="-120"/>
              </a:rPr>
              <a:t>$0.00</a:t>
            </a:r>
            <a:endParaRPr lang="en-US" sz="2800" dirty="0"/>
          </a:p>
        </p:txBody>
      </p:sp>
      <p:sp>
        <p:nvSpPr>
          <p:cNvPr id="43" name="Text 41"/>
          <p:cNvSpPr/>
          <p:nvPr/>
        </p:nvSpPr>
        <p:spPr>
          <a:xfrm>
            <a:off x="3483864" y="6035040"/>
            <a:ext cx="2651760" cy="27432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network fee</a:t>
            </a:r>
            <a:endParaRPr lang="en-US" sz="1100" dirty="0"/>
          </a:p>
        </p:txBody>
      </p:sp>
      <p:sp>
        <p:nvSpPr>
          <p:cNvPr id="44" name="Text 42"/>
          <p:cNvSpPr/>
          <p:nvPr/>
        </p:nvSpPr>
        <p:spPr>
          <a:xfrm>
            <a:off x="6281928" y="5541264"/>
            <a:ext cx="2651760" cy="457200"/>
          </a:xfrm>
          <a:prstGeom prst="rect">
            <a:avLst/>
          </a:prstGeom>
          <a:noFill/>
          <a:ln/>
        </p:spPr>
        <p:txBody>
          <a:bodyPr wrap="square" lIns="0" tIns="0" rIns="0" bIns="0" rtlCol="0" anchor="ctr"/>
          <a:lstStyle/>
          <a:p>
            <a:pPr indent="0" marL="0">
              <a:buNone/>
            </a:pPr>
            <a:r>
              <a:rPr lang="en-US" sz="2800" b="1" dirty="0">
                <a:solidFill>
                  <a:srgbClr val="111315"/>
                </a:solidFill>
                <a:latin typeface="Arial" pitchFamily="34" charset="0"/>
                <a:ea typeface="Arial" pitchFamily="34" charset="-122"/>
                <a:cs typeface="Arial" pitchFamily="34" charset="-120"/>
              </a:rPr>
              <a:t>16 days</a:t>
            </a:r>
            <a:endParaRPr lang="en-US" sz="2800" dirty="0"/>
          </a:p>
        </p:txBody>
      </p:sp>
      <p:sp>
        <p:nvSpPr>
          <p:cNvPr id="45" name="Text 43"/>
          <p:cNvSpPr/>
          <p:nvPr/>
        </p:nvSpPr>
        <p:spPr>
          <a:xfrm>
            <a:off x="6281928" y="6035040"/>
            <a:ext cx="2651760" cy="27432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to restock MAT-001</a:t>
            </a:r>
            <a:endParaRPr lang="en-US" sz="1100" dirty="0"/>
          </a:p>
        </p:txBody>
      </p:sp>
      <p:sp>
        <p:nvSpPr>
          <p:cNvPr id="46" name="Text 44"/>
          <p:cNvSpPr/>
          <p:nvPr/>
        </p:nvSpPr>
        <p:spPr>
          <a:xfrm>
            <a:off x="9079992" y="5541264"/>
            <a:ext cx="2651760" cy="457200"/>
          </a:xfrm>
          <a:prstGeom prst="rect">
            <a:avLst/>
          </a:prstGeom>
          <a:noFill/>
          <a:ln/>
        </p:spPr>
        <p:txBody>
          <a:bodyPr wrap="square" lIns="0" tIns="0" rIns="0" bIns="0" rtlCol="0" anchor="ctr"/>
          <a:lstStyle/>
          <a:p>
            <a:pPr indent="0" marL="0">
              <a:buNone/>
            </a:pPr>
            <a:r>
              <a:rPr lang="en-US" sz="2800" b="1" dirty="0">
                <a:solidFill>
                  <a:srgbClr val="111315"/>
                </a:solidFill>
                <a:latin typeface="Arial" pitchFamily="34" charset="0"/>
                <a:ea typeface="Arial" pitchFamily="34" charset="-122"/>
                <a:cs typeface="Arial" pitchFamily="34" charset="-120"/>
              </a:rPr>
              <a:t>0 bytes</a:t>
            </a:r>
            <a:endParaRPr lang="en-US" sz="2800" dirty="0"/>
          </a:p>
        </p:txBody>
      </p:sp>
      <p:sp>
        <p:nvSpPr>
          <p:cNvPr id="47" name="Text 45"/>
          <p:cNvSpPr/>
          <p:nvPr/>
        </p:nvSpPr>
        <p:spPr>
          <a:xfrm>
            <a:off x="9079992" y="6035040"/>
            <a:ext cx="2651760" cy="27432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leave the device</a:t>
            </a:r>
            <a:endParaRPr lang="en-US" sz="1100" dirty="0"/>
          </a:p>
        </p:txBody>
      </p:sp>
      <p:pic>
        <p:nvPicPr>
          <p:cNvPr id="48" name="Image 0" descr="/tmp/PearLedger/landing/public/mascot/analytics.png">    </p:cNvPr>
          <p:cNvPicPr>
            <a:picLocks noChangeAspect="1"/>
          </p:cNvPicPr>
          <p:nvPr/>
        </p:nvPicPr>
        <p:blipFill>
          <a:blip r:embed="rId1"/>
          <a:stretch>
            <a:fillRect/>
          </a:stretch>
        </p:blipFill>
        <p:spPr>
          <a:xfrm>
            <a:off x="9966960" y="457200"/>
            <a:ext cx="1600200" cy="137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685800" y="548640"/>
            <a:ext cx="6400800" cy="237744"/>
          </a:xfrm>
          <a:prstGeom prst="rect">
            <a:avLst/>
          </a:prstGeom>
          <a:noFill/>
          <a:ln/>
        </p:spPr>
        <p:txBody>
          <a:bodyPr wrap="square" lIns="0" tIns="0" rIns="0" bIns="0" rtlCol="0" anchor="ctr"/>
          <a:lstStyle/>
          <a:p>
            <a:pPr indent="0" marL="0">
              <a:buNone/>
            </a:pPr>
            <a:r>
              <a:rPr lang="en-US" sz="1100" b="1" spc="200" kern="0" dirty="0">
                <a:solidFill>
                  <a:srgbClr val="5D7A08"/>
                </a:solidFill>
                <a:latin typeface="Arial" pitchFamily="34" charset="0"/>
                <a:ea typeface="Arial" pitchFamily="34" charset="-122"/>
                <a:cs typeface="Arial" pitchFamily="34" charset="-120"/>
              </a:rPr>
              <a:t>PRIVACY AND ARCHITECTURE</a:t>
            </a:r>
            <a:endParaRPr lang="en-US" sz="1100" dirty="0"/>
          </a:p>
        </p:txBody>
      </p:sp>
      <p:sp>
        <p:nvSpPr>
          <p:cNvPr id="3" name="Text 1"/>
          <p:cNvSpPr/>
          <p:nvPr/>
        </p:nvSpPr>
        <p:spPr>
          <a:xfrm>
            <a:off x="685800" y="868680"/>
            <a:ext cx="9418320" cy="566928"/>
          </a:xfrm>
          <a:prstGeom prst="rect">
            <a:avLst/>
          </a:prstGeom>
          <a:noFill/>
          <a:ln/>
        </p:spPr>
        <p:txBody>
          <a:bodyPr wrap="square" lIns="0" tIns="0" rIns="0" bIns="0" rtlCol="0" anchor="ctr"/>
          <a:lstStyle/>
          <a:p>
            <a:pPr indent="0" marL="0">
              <a:buNone/>
            </a:pPr>
            <a:r>
              <a:rPr lang="en-US" sz="3200" b="1" dirty="0">
                <a:solidFill>
                  <a:srgbClr val="111315"/>
                </a:solidFill>
                <a:latin typeface="Arial" pitchFamily="34" charset="0"/>
                <a:ea typeface="Arial" pitchFamily="34" charset="-122"/>
                <a:cs typeface="Arial" pitchFamily="34" charset="-120"/>
              </a:rPr>
              <a:t>Your financial data stays yours.</a:t>
            </a:r>
            <a:endParaRPr lang="en-US" sz="3200" dirty="0"/>
          </a:p>
        </p:txBody>
      </p:sp>
      <p:sp>
        <p:nvSpPr>
          <p:cNvPr id="4" name="Text 2"/>
          <p:cNvSpPr/>
          <p:nvPr/>
        </p:nvSpPr>
        <p:spPr>
          <a:xfrm>
            <a:off x="685800" y="1490472"/>
            <a:ext cx="9418320" cy="29260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Amounts, vendors and accounts never leave the device.</a:t>
            </a:r>
            <a:endParaRPr lang="en-US" sz="1500" dirty="0"/>
          </a:p>
        </p:txBody>
      </p:sp>
      <p:sp>
        <p:nvSpPr>
          <p:cNvPr id="5" name="Shape 3"/>
          <p:cNvSpPr/>
          <p:nvPr/>
        </p:nvSpPr>
        <p:spPr>
          <a:xfrm>
            <a:off x="704088" y="2322576"/>
            <a:ext cx="310896" cy="310896"/>
          </a:xfrm>
          <a:prstGeom prst="ellipse">
            <a:avLst/>
          </a:prstGeom>
          <a:solidFill>
            <a:srgbClr val="C4F53C"/>
          </a:solidFill>
          <a:ln w="12700">
            <a:solidFill>
              <a:srgbClr val="C4F53C"/>
            </a:solidFill>
            <a:prstDash val="solid"/>
          </a:ln>
        </p:spPr>
      </p:sp>
      <p:sp>
        <p:nvSpPr>
          <p:cNvPr id="6" name="Text 4"/>
          <p:cNvSpPr/>
          <p:nvPr/>
        </p:nvSpPr>
        <p:spPr>
          <a:xfrm>
            <a:off x="704088" y="2322576"/>
            <a:ext cx="310896" cy="310896"/>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a:t>
            </a:r>
            <a:endParaRPr lang="en-US" sz="1100" dirty="0"/>
          </a:p>
        </p:txBody>
      </p:sp>
      <p:sp>
        <p:nvSpPr>
          <p:cNvPr id="7" name="Text 5"/>
          <p:cNvSpPr/>
          <p:nvPr/>
        </p:nvSpPr>
        <p:spPr>
          <a:xfrm>
            <a:off x="1197864" y="2286000"/>
            <a:ext cx="4480560" cy="256032"/>
          </a:xfrm>
          <a:prstGeom prst="rect">
            <a:avLst/>
          </a:prstGeom>
          <a:noFill/>
          <a:ln/>
        </p:spPr>
        <p:txBody>
          <a:bodyPr wrap="square" lIns="0" tIns="0" rIns="0" bIns="0" rtlCol="0" anchor="ctr"/>
          <a:lstStyle/>
          <a:p>
            <a:pPr indent="0" marL="0">
              <a:buNone/>
            </a:pPr>
            <a:r>
              <a:rPr lang="en-US" sz="1400" b="1" dirty="0">
                <a:solidFill>
                  <a:srgbClr val="111315"/>
                </a:solidFill>
                <a:latin typeface="Arial" pitchFamily="34" charset="0"/>
                <a:ea typeface="Arial" pitchFamily="34" charset="-122"/>
                <a:cs typeface="Arial" pitchFamily="34" charset="-120"/>
              </a:rPr>
              <a:t>100% local AI</a:t>
            </a:r>
            <a:endParaRPr lang="en-US" sz="1400" dirty="0"/>
          </a:p>
        </p:txBody>
      </p:sp>
      <p:sp>
        <p:nvSpPr>
          <p:cNvPr id="8" name="Text 6"/>
          <p:cNvSpPr/>
          <p:nvPr/>
        </p:nvSpPr>
        <p:spPr>
          <a:xfrm>
            <a:off x="1197864" y="2560320"/>
            <a:ext cx="4663440" cy="310896"/>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Inference and OCR via @qvac/sdk, on your machine.</a:t>
            </a:r>
            <a:endParaRPr lang="en-US" sz="1200" dirty="0"/>
          </a:p>
        </p:txBody>
      </p:sp>
      <p:sp>
        <p:nvSpPr>
          <p:cNvPr id="9" name="Shape 7"/>
          <p:cNvSpPr/>
          <p:nvPr/>
        </p:nvSpPr>
        <p:spPr>
          <a:xfrm>
            <a:off x="704088" y="3108960"/>
            <a:ext cx="310896" cy="310896"/>
          </a:xfrm>
          <a:prstGeom prst="ellipse">
            <a:avLst/>
          </a:prstGeom>
          <a:solidFill>
            <a:srgbClr val="C4F53C"/>
          </a:solidFill>
          <a:ln w="12700">
            <a:solidFill>
              <a:srgbClr val="C4F53C"/>
            </a:solidFill>
            <a:prstDash val="solid"/>
          </a:ln>
        </p:spPr>
      </p:sp>
      <p:sp>
        <p:nvSpPr>
          <p:cNvPr id="10" name="Text 8"/>
          <p:cNvSpPr/>
          <p:nvPr/>
        </p:nvSpPr>
        <p:spPr>
          <a:xfrm>
            <a:off x="704088" y="3108960"/>
            <a:ext cx="310896" cy="310896"/>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a:t>
            </a:r>
            <a:endParaRPr lang="en-US" sz="1100" dirty="0"/>
          </a:p>
        </p:txBody>
      </p:sp>
      <p:sp>
        <p:nvSpPr>
          <p:cNvPr id="11" name="Text 9"/>
          <p:cNvSpPr/>
          <p:nvPr/>
        </p:nvSpPr>
        <p:spPr>
          <a:xfrm>
            <a:off x="1197864" y="3072384"/>
            <a:ext cx="4480560" cy="256032"/>
          </a:xfrm>
          <a:prstGeom prst="rect">
            <a:avLst/>
          </a:prstGeom>
          <a:noFill/>
          <a:ln/>
        </p:spPr>
        <p:txBody>
          <a:bodyPr wrap="square" lIns="0" tIns="0" rIns="0" bIns="0" rtlCol="0" anchor="ctr"/>
          <a:lstStyle/>
          <a:p>
            <a:pPr indent="0" marL="0">
              <a:buNone/>
            </a:pPr>
            <a:r>
              <a:rPr lang="en-US" sz="1400" b="1" dirty="0">
                <a:solidFill>
                  <a:srgbClr val="111315"/>
                </a:solidFill>
                <a:latin typeface="Arial" pitchFamily="34" charset="0"/>
                <a:ea typeface="Arial" pitchFamily="34" charset="-122"/>
                <a:cs typeface="Arial" pitchFamily="34" charset="-120"/>
              </a:rPr>
              <a:t>No central server</a:t>
            </a:r>
            <a:endParaRPr lang="en-US" sz="1400" dirty="0"/>
          </a:p>
        </p:txBody>
      </p:sp>
      <p:sp>
        <p:nvSpPr>
          <p:cNvPr id="12" name="Text 10"/>
          <p:cNvSpPr/>
          <p:nvPr/>
        </p:nvSpPr>
        <p:spPr>
          <a:xfrm>
            <a:off x="1197864" y="3346704"/>
            <a:ext cx="4663440" cy="310896"/>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No backend receives or stores the documents.</a:t>
            </a:r>
            <a:endParaRPr lang="en-US" sz="1200" dirty="0"/>
          </a:p>
        </p:txBody>
      </p:sp>
      <p:sp>
        <p:nvSpPr>
          <p:cNvPr id="13" name="Shape 11"/>
          <p:cNvSpPr/>
          <p:nvPr/>
        </p:nvSpPr>
        <p:spPr>
          <a:xfrm>
            <a:off x="704088" y="3895344"/>
            <a:ext cx="310896" cy="310896"/>
          </a:xfrm>
          <a:prstGeom prst="ellipse">
            <a:avLst/>
          </a:prstGeom>
          <a:solidFill>
            <a:srgbClr val="C4F53C"/>
          </a:solidFill>
          <a:ln w="12700">
            <a:solidFill>
              <a:srgbClr val="C4F53C"/>
            </a:solidFill>
            <a:prstDash val="solid"/>
          </a:ln>
        </p:spPr>
      </p:sp>
      <p:sp>
        <p:nvSpPr>
          <p:cNvPr id="14" name="Text 12"/>
          <p:cNvSpPr/>
          <p:nvPr/>
        </p:nvSpPr>
        <p:spPr>
          <a:xfrm>
            <a:off x="704088" y="3895344"/>
            <a:ext cx="310896" cy="310896"/>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a:t>
            </a:r>
            <a:endParaRPr lang="en-US" sz="1100" dirty="0"/>
          </a:p>
        </p:txBody>
      </p:sp>
      <p:sp>
        <p:nvSpPr>
          <p:cNvPr id="15" name="Text 13"/>
          <p:cNvSpPr/>
          <p:nvPr/>
        </p:nvSpPr>
        <p:spPr>
          <a:xfrm>
            <a:off x="1197864" y="3858768"/>
            <a:ext cx="4480560" cy="256032"/>
          </a:xfrm>
          <a:prstGeom prst="rect">
            <a:avLst/>
          </a:prstGeom>
          <a:noFill/>
          <a:ln/>
        </p:spPr>
        <p:txBody>
          <a:bodyPr wrap="square" lIns="0" tIns="0" rIns="0" bIns="0" rtlCol="0" anchor="ctr"/>
          <a:lstStyle/>
          <a:p>
            <a:pPr indent="0" marL="0">
              <a:buNone/>
            </a:pPr>
            <a:r>
              <a:rPr lang="en-US" sz="1400" b="1" dirty="0">
                <a:solidFill>
                  <a:srgbClr val="111315"/>
                </a:solidFill>
                <a:latin typeface="Arial" pitchFamily="34" charset="0"/>
                <a:ea typeface="Arial" pitchFamily="34" charset="-122"/>
                <a:cs typeface="Arial" pitchFamily="34" charset="-120"/>
              </a:rPr>
              <a:t>No cloud APIs</a:t>
            </a:r>
            <a:endParaRPr lang="en-US" sz="1400" dirty="0"/>
          </a:p>
        </p:txBody>
      </p:sp>
      <p:sp>
        <p:nvSpPr>
          <p:cNvPr id="16" name="Text 14"/>
          <p:cNvSpPr/>
          <p:nvPr/>
        </p:nvSpPr>
        <p:spPr>
          <a:xfrm>
            <a:off x="1197864" y="4133088"/>
            <a:ext cx="4663440" cy="310896"/>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Zero calls to external AI services.</a:t>
            </a:r>
            <a:endParaRPr lang="en-US" sz="1200" dirty="0"/>
          </a:p>
        </p:txBody>
      </p:sp>
      <p:sp>
        <p:nvSpPr>
          <p:cNvPr id="17" name="Shape 15"/>
          <p:cNvSpPr/>
          <p:nvPr/>
        </p:nvSpPr>
        <p:spPr>
          <a:xfrm>
            <a:off x="704088" y="4681728"/>
            <a:ext cx="310896" cy="310896"/>
          </a:xfrm>
          <a:prstGeom prst="ellipse">
            <a:avLst/>
          </a:prstGeom>
          <a:solidFill>
            <a:srgbClr val="C4F53C"/>
          </a:solidFill>
          <a:ln w="12700">
            <a:solidFill>
              <a:srgbClr val="C4F53C"/>
            </a:solidFill>
            <a:prstDash val="solid"/>
          </a:ln>
        </p:spPr>
      </p:sp>
      <p:sp>
        <p:nvSpPr>
          <p:cNvPr id="18" name="Text 16"/>
          <p:cNvSpPr/>
          <p:nvPr/>
        </p:nvSpPr>
        <p:spPr>
          <a:xfrm>
            <a:off x="704088" y="4681728"/>
            <a:ext cx="310896" cy="310896"/>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a:t>
            </a:r>
            <a:endParaRPr lang="en-US" sz="1100" dirty="0"/>
          </a:p>
        </p:txBody>
      </p:sp>
      <p:sp>
        <p:nvSpPr>
          <p:cNvPr id="19" name="Text 17"/>
          <p:cNvSpPr/>
          <p:nvPr/>
        </p:nvSpPr>
        <p:spPr>
          <a:xfrm>
            <a:off x="1197864" y="4645152"/>
            <a:ext cx="4480560" cy="256032"/>
          </a:xfrm>
          <a:prstGeom prst="rect">
            <a:avLst/>
          </a:prstGeom>
          <a:noFill/>
          <a:ln/>
        </p:spPr>
        <p:txBody>
          <a:bodyPr wrap="square" lIns="0" tIns="0" rIns="0" bIns="0" rtlCol="0" anchor="ctr"/>
          <a:lstStyle/>
          <a:p>
            <a:pPr indent="0" marL="0">
              <a:buNone/>
            </a:pPr>
            <a:r>
              <a:rPr lang="en-US" sz="1400" b="1" dirty="0">
                <a:solidFill>
                  <a:srgbClr val="111315"/>
                </a:solidFill>
                <a:latin typeface="Arial" pitchFamily="34" charset="0"/>
                <a:ea typeface="Arial" pitchFamily="34" charset="-122"/>
                <a:cs typeface="Arial" pitchFamily="34" charset="-120"/>
              </a:rPr>
              <a:t>Human confirmation</a:t>
            </a:r>
            <a:endParaRPr lang="en-US" sz="1400" dirty="0"/>
          </a:p>
        </p:txBody>
      </p:sp>
      <p:sp>
        <p:nvSpPr>
          <p:cNvPr id="20" name="Text 18"/>
          <p:cNvSpPr/>
          <p:nvPr/>
        </p:nvSpPr>
        <p:spPr>
          <a:xfrm>
            <a:off x="1197864" y="4919472"/>
            <a:ext cx="4663440" cy="310896"/>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Every payment above $1,000 USDt is approved by a person.</a:t>
            </a:r>
            <a:endParaRPr lang="en-US" sz="1200" dirty="0"/>
          </a:p>
        </p:txBody>
      </p:sp>
      <p:sp>
        <p:nvSpPr>
          <p:cNvPr id="21" name="Text 19"/>
          <p:cNvSpPr/>
          <p:nvPr/>
        </p:nvSpPr>
        <p:spPr>
          <a:xfrm>
            <a:off x="6263640" y="2286000"/>
            <a:ext cx="5212080" cy="256032"/>
          </a:xfrm>
          <a:prstGeom prst="rect">
            <a:avLst/>
          </a:prstGeom>
          <a:noFill/>
          <a:ln/>
        </p:spPr>
        <p:txBody>
          <a:bodyPr wrap="square" lIns="0" tIns="0" rIns="0" bIns="0" rtlCol="0" anchor="ctr"/>
          <a:lstStyle/>
          <a:p>
            <a:pPr indent="0" marL="0">
              <a:buNone/>
            </a:pPr>
            <a:r>
              <a:rPr lang="en-US" sz="1200" b="1" spc="100" kern="0" dirty="0">
                <a:solidFill>
                  <a:srgbClr val="6B7280"/>
                </a:solidFill>
                <a:latin typeface="Arial" pitchFamily="34" charset="0"/>
                <a:ea typeface="Arial" pitchFamily="34" charset="-122"/>
                <a:cs typeface="Arial" pitchFamily="34" charset="-120"/>
              </a:rPr>
              <a:t>Four pieces, none with a server of its own</a:t>
            </a:r>
            <a:endParaRPr lang="en-US" sz="1200" dirty="0"/>
          </a:p>
        </p:txBody>
      </p:sp>
      <p:sp>
        <p:nvSpPr>
          <p:cNvPr id="22" name="Shape 20"/>
          <p:cNvSpPr/>
          <p:nvPr/>
        </p:nvSpPr>
        <p:spPr>
          <a:xfrm>
            <a:off x="6263640" y="2670048"/>
            <a:ext cx="2487168" cy="1298448"/>
          </a:xfrm>
          <a:prstGeom prst="roundRect">
            <a:avLst>
              <a:gd name="adj" fmla="val 11268"/>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23" name="Text 21"/>
          <p:cNvSpPr/>
          <p:nvPr/>
        </p:nvSpPr>
        <p:spPr>
          <a:xfrm>
            <a:off x="6483096" y="2834640"/>
            <a:ext cx="2011680" cy="292608"/>
          </a:xfrm>
          <a:prstGeom prst="rect">
            <a:avLst/>
          </a:prstGeom>
          <a:noFill/>
          <a:ln/>
        </p:spPr>
        <p:txBody>
          <a:bodyPr wrap="square" lIns="0" tIns="0" rIns="0" bIns="0" rtlCol="0" anchor="ctr"/>
          <a:lstStyle/>
          <a:p>
            <a:pPr indent="0" marL="0">
              <a:buNone/>
            </a:pPr>
            <a:r>
              <a:rPr lang="en-US" sz="1600" b="1" dirty="0">
                <a:solidFill>
                  <a:srgbClr val="111315"/>
                </a:solidFill>
                <a:latin typeface="Arial" pitchFamily="34" charset="0"/>
                <a:ea typeface="Arial" pitchFamily="34" charset="-122"/>
                <a:cs typeface="Arial" pitchFamily="34" charset="-120"/>
              </a:rPr>
              <a:t>QVAC</a:t>
            </a:r>
            <a:endParaRPr lang="en-US" sz="1600" dirty="0"/>
          </a:p>
        </p:txBody>
      </p:sp>
      <p:sp>
        <p:nvSpPr>
          <p:cNvPr id="24" name="Text 22"/>
          <p:cNvSpPr/>
          <p:nvPr/>
        </p:nvSpPr>
        <p:spPr>
          <a:xfrm>
            <a:off x="6483096" y="3154680"/>
            <a:ext cx="1728216" cy="237744"/>
          </a:xfrm>
          <a:prstGeom prst="roundRect">
            <a:avLst>
              <a:gd name="adj" fmla="val 57692"/>
            </a:avLst>
          </a:prstGeom>
          <a:solidFill>
            <a:srgbClr val="EEFAC9"/>
          </a:solidFill>
          <a:ln w="12700">
            <a:solidFill>
              <a:srgbClr val="EEFAC9"/>
            </a:solidFill>
          </a:ln>
        </p:spPr>
        <p:txBody>
          <a:bodyPr wrap="square" lIns="0" tIns="0" rIns="0" bIns="0" rtlCol="0" anchor="ctr"/>
          <a:lstStyle/>
          <a:p>
            <a:pPr algn="ctr" indent="0" marL="0">
              <a:buNone/>
            </a:pPr>
            <a:r>
              <a:rPr lang="en-US" sz="900" b="1" dirty="0">
                <a:solidFill>
                  <a:srgbClr val="5D7A08"/>
                </a:solidFill>
                <a:latin typeface="Arial" pitchFamily="34" charset="0"/>
                <a:ea typeface="Arial" pitchFamily="34" charset="-122"/>
                <a:cs typeface="Arial" pitchFamily="34" charset="-120"/>
              </a:rPr>
              <a:t>Local AI / OCR</a:t>
            </a:r>
            <a:endParaRPr lang="en-US" sz="900" dirty="0"/>
          </a:p>
        </p:txBody>
      </p:sp>
      <p:sp>
        <p:nvSpPr>
          <p:cNvPr id="25" name="Text 23"/>
          <p:cNvSpPr/>
          <p:nvPr/>
        </p:nvSpPr>
        <p:spPr>
          <a:xfrm>
            <a:off x="6483096" y="3447288"/>
            <a:ext cx="2103120" cy="4114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Reads the documents and matches them against purchase orders.</a:t>
            </a:r>
            <a:endParaRPr lang="en-US" sz="1000" dirty="0"/>
          </a:p>
        </p:txBody>
      </p:sp>
      <p:sp>
        <p:nvSpPr>
          <p:cNvPr id="26" name="Shape 24"/>
          <p:cNvSpPr/>
          <p:nvPr/>
        </p:nvSpPr>
        <p:spPr>
          <a:xfrm>
            <a:off x="8961120" y="2670048"/>
            <a:ext cx="2487168" cy="1298448"/>
          </a:xfrm>
          <a:prstGeom prst="roundRect">
            <a:avLst>
              <a:gd name="adj" fmla="val 11268"/>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27" name="Text 25"/>
          <p:cNvSpPr/>
          <p:nvPr/>
        </p:nvSpPr>
        <p:spPr>
          <a:xfrm>
            <a:off x="9180576" y="2834640"/>
            <a:ext cx="2011680" cy="292608"/>
          </a:xfrm>
          <a:prstGeom prst="rect">
            <a:avLst/>
          </a:prstGeom>
          <a:noFill/>
          <a:ln/>
        </p:spPr>
        <p:txBody>
          <a:bodyPr wrap="square" lIns="0" tIns="0" rIns="0" bIns="0" rtlCol="0" anchor="ctr"/>
          <a:lstStyle/>
          <a:p>
            <a:pPr indent="0" marL="0">
              <a:buNone/>
            </a:pPr>
            <a:r>
              <a:rPr lang="en-US" sz="1600" b="1" dirty="0">
                <a:solidFill>
                  <a:srgbClr val="111315"/>
                </a:solidFill>
                <a:latin typeface="Arial" pitchFamily="34" charset="0"/>
                <a:ea typeface="Arial" pitchFamily="34" charset="-122"/>
                <a:cs typeface="Arial" pitchFamily="34" charset="-120"/>
              </a:rPr>
              <a:t>WDK</a:t>
            </a:r>
            <a:endParaRPr lang="en-US" sz="1600" dirty="0"/>
          </a:p>
        </p:txBody>
      </p:sp>
      <p:sp>
        <p:nvSpPr>
          <p:cNvPr id="28" name="Text 26"/>
          <p:cNvSpPr/>
          <p:nvPr/>
        </p:nvSpPr>
        <p:spPr>
          <a:xfrm>
            <a:off x="9180576" y="3154680"/>
            <a:ext cx="1152144" cy="237744"/>
          </a:xfrm>
          <a:prstGeom prst="roundRect">
            <a:avLst>
              <a:gd name="adj" fmla="val 57692"/>
            </a:avLst>
          </a:prstGeom>
          <a:solidFill>
            <a:srgbClr val="EEFAC9"/>
          </a:solidFill>
          <a:ln w="12700">
            <a:solidFill>
              <a:srgbClr val="EEFAC9"/>
            </a:solidFill>
          </a:ln>
        </p:spPr>
        <p:txBody>
          <a:bodyPr wrap="square" lIns="0" tIns="0" rIns="0" bIns="0" rtlCol="0" anchor="ctr"/>
          <a:lstStyle/>
          <a:p>
            <a:pPr algn="ctr" indent="0" marL="0">
              <a:buNone/>
            </a:pPr>
            <a:r>
              <a:rPr lang="en-US" sz="900" b="1" dirty="0">
                <a:solidFill>
                  <a:srgbClr val="5D7A08"/>
                </a:solidFill>
                <a:latin typeface="Arial" pitchFamily="34" charset="0"/>
                <a:ea typeface="Arial" pitchFamily="34" charset="-122"/>
                <a:cs typeface="Arial" pitchFamily="34" charset="-120"/>
              </a:rPr>
              <a:t>Payments</a:t>
            </a:r>
            <a:endParaRPr lang="en-US" sz="900" dirty="0"/>
          </a:p>
        </p:txBody>
      </p:sp>
      <p:sp>
        <p:nvSpPr>
          <p:cNvPr id="29" name="Text 27"/>
          <p:cNvSpPr/>
          <p:nvPr/>
        </p:nvSpPr>
        <p:spPr>
          <a:xfrm>
            <a:off x="9180576" y="3447288"/>
            <a:ext cx="2103120" cy="4114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Wallet and USDt settlement through a paymaster.</a:t>
            </a:r>
            <a:endParaRPr lang="en-US" sz="1000" dirty="0"/>
          </a:p>
        </p:txBody>
      </p:sp>
      <p:sp>
        <p:nvSpPr>
          <p:cNvPr id="30" name="Shape 28"/>
          <p:cNvSpPr/>
          <p:nvPr/>
        </p:nvSpPr>
        <p:spPr>
          <a:xfrm>
            <a:off x="6263640" y="4133088"/>
            <a:ext cx="2487168" cy="1298448"/>
          </a:xfrm>
          <a:prstGeom prst="roundRect">
            <a:avLst>
              <a:gd name="adj" fmla="val 11268"/>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31" name="Text 29"/>
          <p:cNvSpPr/>
          <p:nvPr/>
        </p:nvSpPr>
        <p:spPr>
          <a:xfrm>
            <a:off x="6483096" y="4297680"/>
            <a:ext cx="2011680" cy="292608"/>
          </a:xfrm>
          <a:prstGeom prst="rect">
            <a:avLst/>
          </a:prstGeom>
          <a:noFill/>
          <a:ln/>
        </p:spPr>
        <p:txBody>
          <a:bodyPr wrap="square" lIns="0" tIns="0" rIns="0" bIns="0" rtlCol="0" anchor="ctr"/>
          <a:lstStyle/>
          <a:p>
            <a:pPr indent="0" marL="0">
              <a:buNone/>
            </a:pPr>
            <a:r>
              <a:rPr lang="en-US" sz="1600" b="1" dirty="0">
                <a:solidFill>
                  <a:srgbClr val="111315"/>
                </a:solidFill>
                <a:latin typeface="Arial" pitchFamily="34" charset="0"/>
                <a:ea typeface="Arial" pitchFamily="34" charset="-122"/>
                <a:cs typeface="Arial" pitchFamily="34" charset="-120"/>
              </a:rPr>
              <a:t>Pear</a:t>
            </a:r>
            <a:endParaRPr lang="en-US" sz="1600" dirty="0"/>
          </a:p>
        </p:txBody>
      </p:sp>
      <p:sp>
        <p:nvSpPr>
          <p:cNvPr id="32" name="Text 30"/>
          <p:cNvSpPr/>
          <p:nvPr/>
        </p:nvSpPr>
        <p:spPr>
          <a:xfrm>
            <a:off x="6483096" y="4617720"/>
            <a:ext cx="1440180" cy="237744"/>
          </a:xfrm>
          <a:prstGeom prst="roundRect">
            <a:avLst>
              <a:gd name="adj" fmla="val 57692"/>
            </a:avLst>
          </a:prstGeom>
          <a:solidFill>
            <a:srgbClr val="EEFAC9"/>
          </a:solidFill>
          <a:ln w="12700">
            <a:solidFill>
              <a:srgbClr val="EEFAC9"/>
            </a:solidFill>
          </a:ln>
        </p:spPr>
        <p:txBody>
          <a:bodyPr wrap="square" lIns="0" tIns="0" rIns="0" bIns="0" rtlCol="0" anchor="ctr"/>
          <a:lstStyle/>
          <a:p>
            <a:pPr algn="ctr" indent="0" marL="0">
              <a:buNone/>
            </a:pPr>
            <a:r>
              <a:rPr lang="en-US" sz="900" b="1" dirty="0">
                <a:solidFill>
                  <a:srgbClr val="5D7A08"/>
                </a:solidFill>
                <a:latin typeface="Arial" pitchFamily="34" charset="0"/>
                <a:ea typeface="Arial" pitchFamily="34" charset="-122"/>
                <a:cs typeface="Arial" pitchFamily="34" charset="-120"/>
              </a:rPr>
              <a:t>P2P runtime</a:t>
            </a:r>
            <a:endParaRPr lang="en-US" sz="900" dirty="0"/>
          </a:p>
        </p:txBody>
      </p:sp>
      <p:sp>
        <p:nvSpPr>
          <p:cNvPr id="33" name="Text 31"/>
          <p:cNvSpPr/>
          <p:nvPr/>
        </p:nvSpPr>
        <p:spPr>
          <a:xfrm>
            <a:off x="6483096" y="4910328"/>
            <a:ext cx="2103120" cy="4114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Installs and updates from a pear:// key.</a:t>
            </a:r>
            <a:endParaRPr lang="en-US" sz="1000" dirty="0"/>
          </a:p>
        </p:txBody>
      </p:sp>
      <p:sp>
        <p:nvSpPr>
          <p:cNvPr id="34" name="Shape 32"/>
          <p:cNvSpPr/>
          <p:nvPr/>
        </p:nvSpPr>
        <p:spPr>
          <a:xfrm>
            <a:off x="8961120" y="4133088"/>
            <a:ext cx="2487168" cy="1298448"/>
          </a:xfrm>
          <a:prstGeom prst="roundRect">
            <a:avLst>
              <a:gd name="adj" fmla="val 11268"/>
            </a:avLst>
          </a:prstGeom>
          <a:solidFill>
            <a:srgbClr val="FFFFFF"/>
          </a:solidFill>
          <a:ln w="12700">
            <a:solidFill>
              <a:srgbClr val="E5E7EB"/>
            </a:solidFill>
            <a:prstDash val="solid"/>
          </a:ln>
          <a:effectLst>
            <a:outerShdw sx="100000" sy="100000" kx="0" ky="0" algn="bl" rotWithShape="0" blurRad="177800" dist="38100" dir="5400000">
              <a:srgbClr val="000000">
                <a:alpha val="7000"/>
              </a:srgbClr>
            </a:outerShdw>
          </a:effectLst>
        </p:spPr>
      </p:sp>
      <p:sp>
        <p:nvSpPr>
          <p:cNvPr id="35" name="Text 33"/>
          <p:cNvSpPr/>
          <p:nvPr/>
        </p:nvSpPr>
        <p:spPr>
          <a:xfrm>
            <a:off x="9180576" y="4297680"/>
            <a:ext cx="2011680" cy="292608"/>
          </a:xfrm>
          <a:prstGeom prst="rect">
            <a:avLst/>
          </a:prstGeom>
          <a:noFill/>
          <a:ln/>
        </p:spPr>
        <p:txBody>
          <a:bodyPr wrap="square" lIns="0" tIns="0" rIns="0" bIns="0" rtlCol="0" anchor="ctr"/>
          <a:lstStyle/>
          <a:p>
            <a:pPr indent="0" marL="0">
              <a:buNone/>
            </a:pPr>
            <a:r>
              <a:rPr lang="en-US" sz="1600" b="1" dirty="0">
                <a:solidFill>
                  <a:srgbClr val="111315"/>
                </a:solidFill>
                <a:latin typeface="Arial" pitchFamily="34" charset="0"/>
                <a:ea typeface="Arial" pitchFamily="34" charset="-122"/>
                <a:cs typeface="Arial" pitchFamily="34" charset="-120"/>
              </a:rPr>
              <a:t>Bare</a:t>
            </a:r>
            <a:endParaRPr lang="en-US" sz="1600" dirty="0"/>
          </a:p>
        </p:txBody>
      </p:sp>
      <p:sp>
        <p:nvSpPr>
          <p:cNvPr id="36" name="Text 34"/>
          <p:cNvSpPr/>
          <p:nvPr/>
        </p:nvSpPr>
        <p:spPr>
          <a:xfrm>
            <a:off x="9180576" y="4617720"/>
            <a:ext cx="1536192" cy="237744"/>
          </a:xfrm>
          <a:prstGeom prst="roundRect">
            <a:avLst>
              <a:gd name="adj" fmla="val 57692"/>
            </a:avLst>
          </a:prstGeom>
          <a:solidFill>
            <a:srgbClr val="EEFAC9"/>
          </a:solidFill>
          <a:ln w="12700">
            <a:solidFill>
              <a:srgbClr val="EEFAC9"/>
            </a:solidFill>
          </a:ln>
        </p:spPr>
        <p:txBody>
          <a:bodyPr wrap="square" lIns="0" tIns="0" rIns="0" bIns="0" rtlCol="0" anchor="ctr"/>
          <a:lstStyle/>
          <a:p>
            <a:pPr algn="ctr" indent="0" marL="0">
              <a:buNone/>
            </a:pPr>
            <a:r>
              <a:rPr lang="en-US" sz="900" b="1" dirty="0">
                <a:solidFill>
                  <a:srgbClr val="5D7A08"/>
                </a:solidFill>
                <a:latin typeface="Arial" pitchFamily="34" charset="0"/>
                <a:ea typeface="Arial" pitchFamily="34" charset="-122"/>
                <a:cs typeface="Arial" pitchFamily="34" charset="-120"/>
              </a:rPr>
              <a:t>Base runtime</a:t>
            </a:r>
            <a:endParaRPr lang="en-US" sz="900" dirty="0"/>
          </a:p>
        </p:txBody>
      </p:sp>
      <p:sp>
        <p:nvSpPr>
          <p:cNvPr id="37" name="Text 35"/>
          <p:cNvSpPr/>
          <p:nvPr/>
        </p:nvSpPr>
        <p:spPr>
          <a:xfrm>
            <a:off x="9180576" y="4910328"/>
            <a:ext cx="2103120" cy="41148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Runs without Node.js, with per-platform binaries.</a:t>
            </a:r>
            <a:endParaRPr lang="en-US" sz="1000" dirty="0"/>
          </a:p>
        </p:txBody>
      </p:sp>
      <p:pic>
        <p:nvPicPr>
          <p:cNvPr id="38" name="Image 0" descr="/tmp/PearLedger/landing/public/mascot/thumbs.png">    </p:cNvPr>
          <p:cNvPicPr>
            <a:picLocks noChangeAspect="1"/>
          </p:cNvPicPr>
          <p:nvPr/>
        </p:nvPicPr>
        <p:blipFill>
          <a:blip r:embed="rId1"/>
          <a:stretch>
            <a:fillRect/>
          </a:stretch>
        </p:blipFill>
        <p:spPr>
          <a:xfrm>
            <a:off x="10314432" y="457200"/>
            <a:ext cx="1097280" cy="1335024"/>
          </a:xfrm>
          <a:prstGeom prst="rect">
            <a:avLst/>
          </a:prstGeom>
        </p:spPr>
      </p:pic>
      <p:sp>
        <p:nvSpPr>
          <p:cNvPr id="39" name="Text 36"/>
          <p:cNvSpPr/>
          <p:nvPr/>
        </p:nvSpPr>
        <p:spPr>
          <a:xfrm>
            <a:off x="685800" y="6108192"/>
            <a:ext cx="3657600" cy="237744"/>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Evidence in the repo</a:t>
            </a:r>
            <a:endParaRPr lang="en-US" sz="1000" dirty="0"/>
          </a:p>
        </p:txBody>
      </p:sp>
      <p:sp>
        <p:nvSpPr>
          <p:cNvPr id="40" name="Text 37"/>
          <p:cNvSpPr/>
          <p:nvPr/>
        </p:nvSpPr>
        <p:spPr>
          <a:xfrm>
            <a:off x="685800" y="6355080"/>
            <a:ext cx="8229600" cy="274320"/>
          </a:xfrm>
          <a:prstGeom prst="rect">
            <a:avLst/>
          </a:prstGeom>
          <a:noFill/>
          <a:ln/>
        </p:spPr>
        <p:txBody>
          <a:bodyPr wrap="square" lIns="0" tIns="0" rIns="0" bIns="0" rtlCol="0" anchor="ctr"/>
          <a:lstStyle/>
          <a:p>
            <a:pPr indent="0" marL="0">
              <a:buNone/>
            </a:pPr>
            <a:r>
              <a:rPr lang="en-US" sz="1100" dirty="0">
                <a:solidFill>
                  <a:srgbClr val="9CA3AF"/>
                </a:solidFill>
                <a:latin typeface="Courier New" pitchFamily="34" charset="0"/>
                <a:ea typeface="Courier New" pitchFamily="34" charset="-122"/>
                <a:cs typeface="Courier New" pitchFamily="34" charset="-120"/>
              </a:rPr>
              <a:t>harness/core.ts  ·  docs/PLUGIN_CONTRACT.md  ·  docs/STACK_ANALYSIS.md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315"/>
        </a:solidFill>
      </p:bgPr>
    </p:bg>
    <p:spTree>
      <p:nvGrpSpPr>
        <p:cNvPr id="1" name=""/>
        <p:cNvGrpSpPr/>
        <p:nvPr/>
      </p:nvGrpSpPr>
      <p:grpSpPr>
        <a:xfrm>
          <a:off x="0" y="0"/>
          <a:ext cx="0" cy="0"/>
          <a:chOff x="0" y="0"/>
          <a:chExt cx="0" cy="0"/>
        </a:xfrm>
      </p:grpSpPr>
      <p:sp>
        <p:nvSpPr>
          <p:cNvPr id="2" name="Text 0"/>
          <p:cNvSpPr/>
          <p:nvPr/>
        </p:nvSpPr>
        <p:spPr>
          <a:xfrm>
            <a:off x="685800" y="548640"/>
            <a:ext cx="6400800" cy="237744"/>
          </a:xfrm>
          <a:prstGeom prst="rect">
            <a:avLst/>
          </a:prstGeom>
          <a:noFill/>
          <a:ln/>
        </p:spPr>
        <p:txBody>
          <a:bodyPr wrap="square" lIns="0" tIns="0" rIns="0" bIns="0" rtlCol="0" anchor="ctr"/>
          <a:lstStyle/>
          <a:p>
            <a:pPr indent="0" marL="0">
              <a:buNone/>
            </a:pPr>
            <a:r>
              <a:rPr lang="en-US" sz="1100" b="1" spc="200" kern="0" dirty="0">
                <a:solidFill>
                  <a:srgbClr val="C4F53C"/>
                </a:solidFill>
                <a:latin typeface="Arial" pitchFamily="34" charset="0"/>
                <a:ea typeface="Arial" pitchFamily="34" charset="-122"/>
                <a:cs typeface="Arial" pitchFamily="34" charset="-120"/>
              </a:rPr>
              <a:t>EXTENSIBLE ARCHITECTURE</a:t>
            </a:r>
            <a:endParaRPr lang="en-US" sz="1100" dirty="0"/>
          </a:p>
        </p:txBody>
      </p:sp>
      <p:sp>
        <p:nvSpPr>
          <p:cNvPr id="3" name="Text 1"/>
          <p:cNvSpPr/>
          <p:nvPr/>
        </p:nvSpPr>
        <p:spPr>
          <a:xfrm>
            <a:off x="685800" y="850392"/>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Everything is a plugin.</a:t>
            </a:r>
            <a:endParaRPr lang="en-US" sz="3400" dirty="0"/>
          </a:p>
        </p:txBody>
      </p:sp>
      <p:sp>
        <p:nvSpPr>
          <p:cNvPr id="4" name="Text 2"/>
          <p:cNvSpPr/>
          <p:nvPr/>
        </p:nvSpPr>
        <p:spPr>
          <a:xfrm>
            <a:off x="685800" y="1572768"/>
            <a:ext cx="8138160" cy="640080"/>
          </a:xfrm>
          <a:prstGeom prst="rect">
            <a:avLst/>
          </a:prstGeom>
          <a:noFill/>
          <a:ln/>
        </p:spPr>
        <p:txBody>
          <a:bodyPr wrap="square" lIns="0" tIns="0" rIns="0" bIns="0" rtlCol="0" anchor="ctr"/>
          <a:lstStyle/>
          <a:p>
            <a:pPr indent="0" marL="0">
              <a:lnSpc>
                <a:spcPct val="125000"/>
              </a:lnSpc>
              <a:buNone/>
            </a:pPr>
            <a:r>
              <a:rPr lang="en-US" sz="1400" dirty="0">
                <a:solidFill>
                  <a:srgbClr val="A1A6AD"/>
                </a:solidFill>
                <a:latin typeface="Arial" pitchFamily="34" charset="0"/>
                <a:ea typeface="Arial" pitchFamily="34" charset="-122"/>
                <a:cs typeface="Arial" pitchFamily="34" charset="-120"/>
              </a:rPr>
              <a:t>A Cordis-style mini-harness: event bus, tool registry and hooks.</a:t>
            </a:r>
            <a:endParaRPr lang="en-US" sz="1400" dirty="0"/>
          </a:p>
          <a:p>
            <a:pPr indent="0" marL="0">
              <a:lnSpc>
                <a:spcPct val="125000"/>
              </a:lnSpc>
              <a:buNone/>
            </a:pPr>
            <a:r>
              <a:rPr lang="en-US" sz="1400" dirty="0">
                <a:solidFill>
                  <a:srgbClr val="A1A6AD"/>
                </a:solidFill>
                <a:latin typeface="Arial" pitchFamily="34" charset="0"/>
                <a:ea typeface="Arial" pitchFamily="34" charset="-122"/>
                <a:cs typeface="Arial" pitchFamily="34" charset="-120"/>
              </a:rPr>
              <a:t>Any accounting process plugs in without touching the core.</a:t>
            </a:r>
            <a:endParaRPr lang="en-US" sz="1400" dirty="0"/>
          </a:p>
        </p:txBody>
      </p:sp>
      <p:sp>
        <p:nvSpPr>
          <p:cNvPr id="5" name="Shape 3"/>
          <p:cNvSpPr/>
          <p:nvPr/>
        </p:nvSpPr>
        <p:spPr>
          <a:xfrm>
            <a:off x="685800" y="2395728"/>
            <a:ext cx="5623560" cy="2487168"/>
          </a:xfrm>
          <a:prstGeom prst="roundRect">
            <a:avLst>
              <a:gd name="adj" fmla="val 5882"/>
            </a:avLst>
          </a:prstGeom>
          <a:solidFill>
            <a:srgbClr val="1C1E21"/>
          </a:solidFill>
          <a:ln w="12700">
            <a:solidFill>
              <a:srgbClr val="2A2D31"/>
            </a:solidFill>
            <a:prstDash val="solid"/>
          </a:ln>
        </p:spPr>
      </p:sp>
      <p:sp>
        <p:nvSpPr>
          <p:cNvPr id="6" name="Text 4"/>
          <p:cNvSpPr/>
          <p:nvPr/>
        </p:nvSpPr>
        <p:spPr>
          <a:xfrm>
            <a:off x="960120" y="2542032"/>
            <a:ext cx="5120640" cy="219456"/>
          </a:xfrm>
          <a:prstGeom prst="rect">
            <a:avLst/>
          </a:prstGeom>
          <a:noFill/>
          <a:ln/>
        </p:spPr>
        <p:txBody>
          <a:bodyPr wrap="square" lIns="0" tIns="0" rIns="0" bIns="0" rtlCol="0" anchor="ctr"/>
          <a:lstStyle/>
          <a:p>
            <a:pPr indent="0" marL="0">
              <a:buNone/>
            </a:pPr>
            <a:r>
              <a:rPr lang="en-US" sz="900" dirty="0">
                <a:solidFill>
                  <a:srgbClr val="73787F"/>
                </a:solidFill>
                <a:latin typeface="Courier New" pitchFamily="34" charset="0"/>
                <a:ea typeface="Courier New" pitchFamily="34" charset="-122"/>
                <a:cs typeface="Courier New" pitchFamily="34" charset="-120"/>
              </a:rPr>
              <a:t>workspace/plugins/plugin-tax-ledger/index.ts</a:t>
            </a:r>
            <a:endParaRPr lang="en-US" sz="900" dirty="0"/>
          </a:p>
        </p:txBody>
      </p:sp>
      <p:sp>
        <p:nvSpPr>
          <p:cNvPr id="7" name="Text 5"/>
          <p:cNvSpPr/>
          <p:nvPr/>
        </p:nvSpPr>
        <p:spPr>
          <a:xfrm>
            <a:off x="960120" y="2816352"/>
            <a:ext cx="5120640" cy="1920240"/>
          </a:xfrm>
          <a:prstGeom prst="rect">
            <a:avLst/>
          </a:prstGeom>
          <a:noFill/>
          <a:ln/>
        </p:spPr>
        <p:txBody>
          <a:bodyPr wrap="square" lIns="0" tIns="0" rIns="0" bIns="0" rtlCol="0" anchor="t"/>
          <a:lstStyle/>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export const name = </a:t>
            </a:r>
            <a:pPr indent="0" marL="0">
              <a:lnSpc>
                <a:spcPct val="112000"/>
              </a:lnSpc>
              <a:buNone/>
            </a:pPr>
            <a:r>
              <a:rPr lang="en-US" sz="1100" dirty="0">
                <a:solidFill>
                  <a:srgbClr val="C4F53C"/>
                </a:solidFill>
                <a:latin typeface="Courier New" pitchFamily="34" charset="0"/>
                <a:ea typeface="Courier New" pitchFamily="34" charset="-122"/>
                <a:cs typeface="Courier New" pitchFamily="34" charset="-120"/>
              </a:rPr>
              <a:t>'plugin-tax-ledger'</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export async function register(h) {</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  h.registerTool({</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    name: </a:t>
            </a:r>
            <a:pPr indent="0" marL="0">
              <a:lnSpc>
                <a:spcPct val="112000"/>
              </a:lnSpc>
              <a:buNone/>
            </a:pPr>
            <a:r>
              <a:rPr lang="en-US" sz="1100" dirty="0">
                <a:solidFill>
                  <a:srgbClr val="C4F53C"/>
                </a:solidFill>
                <a:latin typeface="Courier New" pitchFamily="34" charset="0"/>
                <a:ea typeface="Courier New" pitchFamily="34" charset="-122"/>
                <a:cs typeface="Courier New" pitchFamily="34" charset="-120"/>
              </a:rPr>
              <a:t>'file_vat_book',</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    plugin: name,</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    handler: async (params) =&gt; { /* ... */ },</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D7DBE0"/>
                </a:solidFill>
                <a:latin typeface="Courier New" pitchFamily="34" charset="0"/>
                <a:ea typeface="Courier New" pitchFamily="34" charset="-122"/>
                <a:cs typeface="Courier New" pitchFamily="34" charset="-120"/>
              </a:rPr>
              <a:t>}</a:t>
            </a:r>
            <a:endParaRPr lang="en-US" sz="1100" dirty="0"/>
          </a:p>
        </p:txBody>
      </p:sp>
      <p:sp>
        <p:nvSpPr>
          <p:cNvPr id="8" name="Shape 6"/>
          <p:cNvSpPr/>
          <p:nvPr/>
        </p:nvSpPr>
        <p:spPr>
          <a:xfrm>
            <a:off x="6720840" y="2468880"/>
            <a:ext cx="292608" cy="292608"/>
          </a:xfrm>
          <a:prstGeom prst="ellipse">
            <a:avLst/>
          </a:prstGeom>
          <a:solidFill>
            <a:srgbClr val="C4F53C"/>
          </a:solidFill>
          <a:ln w="12700">
            <a:solidFill>
              <a:srgbClr val="C4F53C"/>
            </a:solidFill>
            <a:prstDash val="solid"/>
          </a:ln>
        </p:spPr>
      </p:sp>
      <p:sp>
        <p:nvSpPr>
          <p:cNvPr id="9" name="Text 7"/>
          <p:cNvSpPr/>
          <p:nvPr/>
        </p:nvSpPr>
        <p:spPr>
          <a:xfrm>
            <a:off x="6720840" y="2468880"/>
            <a:ext cx="292608" cy="292608"/>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7178040" y="2450592"/>
            <a:ext cx="466344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Today: 3 plugins, 8 tools frozen by contract.</a:t>
            </a:r>
            <a:endParaRPr lang="en-US" sz="1300" dirty="0"/>
          </a:p>
        </p:txBody>
      </p:sp>
      <p:sp>
        <p:nvSpPr>
          <p:cNvPr id="11" name="Text 9"/>
          <p:cNvSpPr/>
          <p:nvPr/>
        </p:nvSpPr>
        <p:spPr>
          <a:xfrm>
            <a:off x="7178040" y="2724912"/>
            <a:ext cx="4754880" cy="457200"/>
          </a:xfrm>
          <a:prstGeom prst="rect">
            <a:avLst/>
          </a:prstGeom>
          <a:noFill/>
          <a:ln/>
        </p:spPr>
        <p:txBody>
          <a:bodyPr wrap="square" lIns="0" tIns="0" rIns="0" bIns="0" rtlCol="0" anchor="ctr"/>
          <a:lstStyle/>
          <a:p>
            <a:pPr indent="0" marL="0">
              <a:buNone/>
            </a:pPr>
            <a:r>
              <a:rPr lang="en-US" sz="1100" dirty="0">
                <a:solidFill>
                  <a:srgbClr val="A1A6AD"/>
                </a:solidFill>
                <a:latin typeface="Arial" pitchFamily="34" charset="0"/>
                <a:ea typeface="Arial" pitchFamily="34" charset="-122"/>
                <a:cs typeface="Arial" pitchFamily="34" charset="-120"/>
              </a:rPr>
              <a:t>invoice-ops · procurement-forecast · wdk-settlement</a:t>
            </a:r>
            <a:endParaRPr lang="en-US" sz="1100" dirty="0"/>
          </a:p>
        </p:txBody>
      </p:sp>
      <p:sp>
        <p:nvSpPr>
          <p:cNvPr id="12" name="Shape 10"/>
          <p:cNvSpPr/>
          <p:nvPr/>
        </p:nvSpPr>
        <p:spPr>
          <a:xfrm>
            <a:off x="6720840" y="3328416"/>
            <a:ext cx="292608" cy="292608"/>
          </a:xfrm>
          <a:prstGeom prst="ellipse">
            <a:avLst/>
          </a:prstGeom>
          <a:solidFill>
            <a:srgbClr val="C4F53C"/>
          </a:solidFill>
          <a:ln w="12700">
            <a:solidFill>
              <a:srgbClr val="C4F53C"/>
            </a:solidFill>
            <a:prstDash val="solid"/>
          </a:ln>
        </p:spPr>
      </p:sp>
      <p:sp>
        <p:nvSpPr>
          <p:cNvPr id="13" name="Text 11"/>
          <p:cNvSpPr/>
          <p:nvPr/>
        </p:nvSpPr>
        <p:spPr>
          <a:xfrm>
            <a:off x="6720840" y="3328416"/>
            <a:ext cx="292608" cy="292608"/>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7178040" y="3310128"/>
            <a:ext cx="466344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Every new tool inherits the hooks.</a:t>
            </a:r>
            <a:endParaRPr lang="en-US" sz="1300" dirty="0"/>
          </a:p>
        </p:txBody>
      </p:sp>
      <p:sp>
        <p:nvSpPr>
          <p:cNvPr id="15" name="Text 13"/>
          <p:cNvSpPr/>
          <p:nvPr/>
        </p:nvSpPr>
        <p:spPr>
          <a:xfrm>
            <a:off x="7178040" y="3584448"/>
            <a:ext cx="4754880" cy="457200"/>
          </a:xfrm>
          <a:prstGeom prst="rect">
            <a:avLst/>
          </a:prstGeom>
          <a:noFill/>
          <a:ln/>
        </p:spPr>
        <p:txBody>
          <a:bodyPr wrap="square" lIns="0" tIns="0" rIns="0" bIns="0" rtlCol="0" anchor="ctr"/>
          <a:lstStyle/>
          <a:p>
            <a:pPr indent="0" marL="0">
              <a:buNone/>
            </a:pPr>
            <a:r>
              <a:rPr lang="en-US" sz="1100" dirty="0">
                <a:solidFill>
                  <a:srgbClr val="A1A6AD"/>
                </a:solidFill>
                <a:latin typeface="Arial" pitchFamily="34" charset="0"/>
                <a:ea typeface="Arial" pitchFamily="34" charset="-122"/>
                <a:cs typeface="Arial" pitchFamily="34" charset="-120"/>
              </a:rPr>
              <a:t>Human confirmation above $1,000 USDt and input sanitization, without writing them again.</a:t>
            </a:r>
            <a:endParaRPr lang="en-US" sz="1100" dirty="0"/>
          </a:p>
        </p:txBody>
      </p:sp>
      <p:sp>
        <p:nvSpPr>
          <p:cNvPr id="16" name="Shape 14"/>
          <p:cNvSpPr/>
          <p:nvPr/>
        </p:nvSpPr>
        <p:spPr>
          <a:xfrm>
            <a:off x="6720840" y="4187952"/>
            <a:ext cx="292608" cy="292608"/>
          </a:xfrm>
          <a:prstGeom prst="ellipse">
            <a:avLst/>
          </a:prstGeom>
          <a:solidFill>
            <a:srgbClr val="C4F53C"/>
          </a:solidFill>
          <a:ln w="12700">
            <a:solidFill>
              <a:srgbClr val="C4F53C"/>
            </a:solidFill>
            <a:prstDash val="solid"/>
          </a:ln>
        </p:spPr>
      </p:sp>
      <p:sp>
        <p:nvSpPr>
          <p:cNvPr id="17" name="Text 15"/>
          <p:cNvSpPr/>
          <p:nvPr/>
        </p:nvSpPr>
        <p:spPr>
          <a:xfrm>
            <a:off x="6720840" y="4187952"/>
            <a:ext cx="292608" cy="292608"/>
          </a:xfrm>
          <a:prstGeom prst="rect">
            <a:avLst/>
          </a:prstGeom>
          <a:noFill/>
          <a:ln/>
        </p:spPr>
        <p:txBody>
          <a:bodyPr wrap="square" lIns="0" tIns="0" rIns="0" bIns="0" rtlCol="0" anchor="ctr"/>
          <a:lstStyle/>
          <a:p>
            <a:pPr algn="ctr" indent="0" marL="0">
              <a:buNone/>
            </a:pPr>
            <a:r>
              <a:rPr lang="en-US" sz="1100" b="1" dirty="0">
                <a:solidFill>
                  <a:srgbClr val="111315"/>
                </a:solidFill>
                <a:latin typeface="Arial" pitchFamily="34" charset="0"/>
                <a:ea typeface="Arial" pitchFamily="34" charset="-122"/>
                <a:cs typeface="Arial" pitchFamily="34" charset="-120"/>
              </a:rPr>
              <a:t>3</a:t>
            </a:r>
            <a:endParaRPr lang="en-US" sz="1100" dirty="0"/>
          </a:p>
        </p:txBody>
      </p:sp>
      <p:sp>
        <p:nvSpPr>
          <p:cNvPr id="18" name="Text 16"/>
          <p:cNvSpPr/>
          <p:nvPr/>
        </p:nvSpPr>
        <p:spPr>
          <a:xfrm>
            <a:off x="7178040" y="4169664"/>
            <a:ext cx="466344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The loader is fail-soft.</a:t>
            </a:r>
            <a:endParaRPr lang="en-US" sz="1300" dirty="0"/>
          </a:p>
        </p:txBody>
      </p:sp>
      <p:sp>
        <p:nvSpPr>
          <p:cNvPr id="19" name="Text 17"/>
          <p:cNvSpPr/>
          <p:nvPr/>
        </p:nvSpPr>
        <p:spPr>
          <a:xfrm>
            <a:off x="7178040" y="4443984"/>
            <a:ext cx="4754880" cy="457200"/>
          </a:xfrm>
          <a:prstGeom prst="rect">
            <a:avLst/>
          </a:prstGeom>
          <a:noFill/>
          <a:ln/>
        </p:spPr>
        <p:txBody>
          <a:bodyPr wrap="square" lIns="0" tIns="0" rIns="0" bIns="0" rtlCol="0" anchor="ctr"/>
          <a:lstStyle/>
          <a:p>
            <a:pPr indent="0" marL="0">
              <a:buNone/>
            </a:pPr>
            <a:r>
              <a:rPr lang="en-US" sz="1100" dirty="0">
                <a:solidFill>
                  <a:srgbClr val="A1A6AD"/>
                </a:solidFill>
                <a:latin typeface="Arial" pitchFamily="34" charset="0"/>
                <a:ea typeface="Arial" pitchFamily="34" charset="-122"/>
                <a:cs typeface="Arial" pitchFamily="34" charset="-120"/>
              </a:rPr>
              <a:t>A plugin that fails to load logs a warning; the CLI keeps running.</a:t>
            </a:r>
            <a:endParaRPr lang="en-US" sz="1100" dirty="0"/>
          </a:p>
        </p:txBody>
      </p:sp>
      <p:sp>
        <p:nvSpPr>
          <p:cNvPr id="20" name="Text 18"/>
          <p:cNvSpPr/>
          <p:nvPr/>
        </p:nvSpPr>
        <p:spPr>
          <a:xfrm>
            <a:off x="685800" y="5486400"/>
            <a:ext cx="4572000" cy="237744"/>
          </a:xfrm>
          <a:prstGeom prst="rect">
            <a:avLst/>
          </a:prstGeom>
          <a:noFill/>
          <a:ln/>
        </p:spPr>
        <p:txBody>
          <a:bodyPr wrap="square" lIns="0" tIns="0" rIns="0" bIns="0" rtlCol="0" anchor="ctr"/>
          <a:lstStyle/>
          <a:p>
            <a:pPr indent="0" marL="0">
              <a:buNone/>
            </a:pPr>
            <a:r>
              <a:rPr lang="en-US" sz="1000" b="1" spc="200" kern="0" dirty="0">
                <a:solidFill>
                  <a:srgbClr val="C4F53C"/>
                </a:solidFill>
                <a:latin typeface="Arial" pitchFamily="34" charset="0"/>
                <a:ea typeface="Arial" pitchFamily="34" charset="-122"/>
                <a:cs typeface="Arial" pitchFamily="34" charset="-120"/>
              </a:rPr>
              <a:t>WHAT CAN PLUG IN NEXT</a:t>
            </a:r>
            <a:endParaRPr lang="en-US" sz="1000" dirty="0"/>
          </a:p>
        </p:txBody>
      </p:sp>
      <p:sp>
        <p:nvSpPr>
          <p:cNvPr id="21" name="Text 19"/>
          <p:cNvSpPr/>
          <p:nvPr/>
        </p:nvSpPr>
        <p:spPr>
          <a:xfrm>
            <a:off x="685800" y="5815584"/>
            <a:ext cx="2281428" cy="365760"/>
          </a:xfrm>
          <a:prstGeom prst="roundRect">
            <a:avLst>
              <a:gd name="adj" fmla="val 37500"/>
            </a:avLst>
          </a:prstGeom>
          <a:solidFill>
            <a:srgbClr val="1C1E21"/>
          </a:solidFill>
          <a:ln w="12700">
            <a:solidFill>
              <a:srgbClr val="2A2D31"/>
            </a:solid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Bank reconciliation</a:t>
            </a:r>
            <a:endParaRPr lang="en-US" sz="1100" dirty="0"/>
          </a:p>
        </p:txBody>
      </p:sp>
      <p:sp>
        <p:nvSpPr>
          <p:cNvPr id="22" name="Text 20"/>
          <p:cNvSpPr/>
          <p:nvPr/>
        </p:nvSpPr>
        <p:spPr>
          <a:xfrm>
            <a:off x="3113532" y="5815584"/>
            <a:ext cx="1225296" cy="365760"/>
          </a:xfrm>
          <a:prstGeom prst="roundRect">
            <a:avLst>
              <a:gd name="adj" fmla="val 37500"/>
            </a:avLst>
          </a:prstGeom>
          <a:solidFill>
            <a:srgbClr val="1C1E21"/>
          </a:solidFill>
          <a:ln w="12700">
            <a:solidFill>
              <a:srgbClr val="2A2D31"/>
            </a:solid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VAT book</a:t>
            </a:r>
            <a:endParaRPr lang="en-US" sz="1100" dirty="0"/>
          </a:p>
        </p:txBody>
      </p:sp>
      <p:sp>
        <p:nvSpPr>
          <p:cNvPr id="23" name="Text 21"/>
          <p:cNvSpPr/>
          <p:nvPr/>
        </p:nvSpPr>
        <p:spPr>
          <a:xfrm>
            <a:off x="4485132" y="5815584"/>
            <a:ext cx="1609344" cy="365760"/>
          </a:xfrm>
          <a:prstGeom prst="roundRect">
            <a:avLst>
              <a:gd name="adj" fmla="val 37500"/>
            </a:avLst>
          </a:prstGeom>
          <a:solidFill>
            <a:srgbClr val="1C1E21"/>
          </a:solidFill>
          <a:ln w="12700">
            <a:solidFill>
              <a:srgbClr val="2A2D31"/>
            </a:solid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Withholdings</a:t>
            </a:r>
            <a:endParaRPr lang="en-US" sz="1100" dirty="0"/>
          </a:p>
        </p:txBody>
      </p:sp>
      <p:sp>
        <p:nvSpPr>
          <p:cNvPr id="24" name="Text 22"/>
          <p:cNvSpPr/>
          <p:nvPr/>
        </p:nvSpPr>
        <p:spPr>
          <a:xfrm>
            <a:off x="6240780" y="5815584"/>
            <a:ext cx="1897380" cy="365760"/>
          </a:xfrm>
          <a:prstGeom prst="roundRect">
            <a:avLst>
              <a:gd name="adj" fmla="val 37500"/>
            </a:avLst>
          </a:prstGeom>
          <a:solidFill>
            <a:srgbClr val="1C1E21"/>
          </a:solidFill>
          <a:ln w="12700">
            <a:solidFill>
              <a:srgbClr val="2A2D31"/>
            </a:solid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Month-end close</a:t>
            </a:r>
            <a:endParaRPr lang="en-US" sz="1100" dirty="0"/>
          </a:p>
        </p:txBody>
      </p:sp>
      <p:sp>
        <p:nvSpPr>
          <p:cNvPr id="25" name="Text 23"/>
          <p:cNvSpPr/>
          <p:nvPr/>
        </p:nvSpPr>
        <p:spPr>
          <a:xfrm>
            <a:off x="8284464" y="5815584"/>
            <a:ext cx="1129284" cy="365760"/>
          </a:xfrm>
          <a:prstGeom prst="roundRect">
            <a:avLst>
              <a:gd name="adj" fmla="val 37500"/>
            </a:avLst>
          </a:prstGeom>
          <a:solidFill>
            <a:srgbClr val="1C1E21"/>
          </a:solidFill>
          <a:ln w="12700">
            <a:solidFill>
              <a:srgbClr val="2A2D31"/>
            </a:solid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Payroll</a:t>
            </a:r>
            <a:endParaRPr lang="en-US" sz="1100" dirty="0"/>
          </a:p>
        </p:txBody>
      </p:sp>
      <p:sp>
        <p:nvSpPr>
          <p:cNvPr id="26" name="Text 24"/>
          <p:cNvSpPr/>
          <p:nvPr/>
        </p:nvSpPr>
        <p:spPr>
          <a:xfrm>
            <a:off x="9560052" y="5815584"/>
            <a:ext cx="1513332" cy="365760"/>
          </a:xfrm>
          <a:prstGeom prst="roundRect">
            <a:avLst>
              <a:gd name="adj" fmla="val 37500"/>
            </a:avLst>
          </a:prstGeom>
          <a:solidFill>
            <a:srgbClr val="1C1E21"/>
          </a:solidFill>
          <a:ln w="12700">
            <a:solidFill>
              <a:srgbClr val="2A2D31"/>
            </a:solid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Receivables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315"/>
        </a:solidFill>
      </p:bgPr>
    </p:bg>
    <p:spTree>
      <p:nvGrpSpPr>
        <p:cNvPr id="1" name=""/>
        <p:cNvGrpSpPr/>
        <p:nvPr/>
      </p:nvGrpSpPr>
      <p:grpSpPr>
        <a:xfrm>
          <a:off x="0" y="0"/>
          <a:ext cx="0" cy="0"/>
          <a:chOff x="0" y="0"/>
          <a:chExt cx="0" cy="0"/>
        </a:xfrm>
      </p:grpSpPr>
      <p:pic>
        <p:nvPicPr>
          <p:cNvPr id="2" name="Image 0" descr="/tmp/PearLedger/landing/public/logo-light.png">    </p:cNvPr>
          <p:cNvPicPr>
            <a:picLocks noChangeAspect="1"/>
          </p:cNvPicPr>
          <p:nvPr/>
        </p:nvPicPr>
        <p:blipFill>
          <a:blip r:embed="rId1"/>
          <a:stretch>
            <a:fillRect/>
          </a:stretch>
        </p:blipFill>
        <p:spPr>
          <a:xfrm>
            <a:off x="685800" y="548640"/>
            <a:ext cx="1737360" cy="731520"/>
          </a:xfrm>
          <a:prstGeom prst="rect">
            <a:avLst/>
          </a:prstGeom>
        </p:spPr>
      </p:pic>
      <p:sp>
        <p:nvSpPr>
          <p:cNvPr id="3" name="Text 0"/>
          <p:cNvSpPr/>
          <p:nvPr/>
        </p:nvSpPr>
        <p:spPr>
          <a:xfrm>
            <a:off x="685800" y="2377440"/>
            <a:ext cx="6400800" cy="237744"/>
          </a:xfrm>
          <a:prstGeom prst="rect">
            <a:avLst/>
          </a:prstGeom>
          <a:noFill/>
          <a:ln/>
        </p:spPr>
        <p:txBody>
          <a:bodyPr wrap="square" lIns="0" tIns="0" rIns="0" bIns="0" rtlCol="0" anchor="ctr"/>
          <a:lstStyle/>
          <a:p>
            <a:pPr indent="0" marL="0">
              <a:buNone/>
            </a:pPr>
            <a:r>
              <a:rPr lang="en-US" sz="1100" b="1" spc="200" kern="0" dirty="0">
                <a:solidFill>
                  <a:srgbClr val="C4F53C"/>
                </a:solidFill>
                <a:latin typeface="Arial" pitchFamily="34" charset="0"/>
                <a:ea typeface="Arial" pitchFamily="34" charset="-122"/>
                <a:cs typeface="Arial" pitchFamily="34" charset="-120"/>
              </a:rPr>
              <a:t>LOCAL-FIRST. GASLESS. P2P.</a:t>
            </a:r>
            <a:endParaRPr lang="en-US" sz="1100" dirty="0"/>
          </a:p>
        </p:txBody>
      </p:sp>
      <p:sp>
        <p:nvSpPr>
          <p:cNvPr id="4" name="Text 1"/>
          <p:cNvSpPr/>
          <p:nvPr/>
        </p:nvSpPr>
        <p:spPr>
          <a:xfrm>
            <a:off x="685800" y="2715768"/>
            <a:ext cx="768096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Automate your next invoice.</a:t>
            </a:r>
            <a:endParaRPr lang="en-US" sz="3800" dirty="0"/>
          </a:p>
        </p:txBody>
      </p:sp>
      <p:sp>
        <p:nvSpPr>
          <p:cNvPr id="5" name="Text 2"/>
          <p:cNvSpPr/>
          <p:nvPr/>
        </p:nvSpPr>
        <p:spPr>
          <a:xfrm>
            <a:off x="685800" y="3593592"/>
            <a:ext cx="7680960" cy="365760"/>
          </a:xfrm>
          <a:prstGeom prst="rect">
            <a:avLst/>
          </a:prstGeom>
          <a:noFill/>
          <a:ln/>
        </p:spPr>
        <p:txBody>
          <a:bodyPr wrap="square" lIns="0" tIns="0" rIns="0" bIns="0" rtlCol="0" anchor="ctr"/>
          <a:lstStyle/>
          <a:p>
            <a:pPr indent="0" marL="0">
              <a:buNone/>
            </a:pPr>
            <a:r>
              <a:rPr lang="en-US" sz="1700" dirty="0">
                <a:solidFill>
                  <a:srgbClr val="A1A6AD"/>
                </a:solidFill>
                <a:latin typeface="Arial" pitchFamily="34" charset="0"/>
                <a:ea typeface="Arial" pitchFamily="34" charset="-122"/>
                <a:cs typeface="Arial" pitchFamily="34" charset="-120"/>
              </a:rPr>
              <a:t>Clone, install and the agent runs on your machine.</a:t>
            </a:r>
            <a:endParaRPr lang="en-US" sz="1700" dirty="0"/>
          </a:p>
        </p:txBody>
      </p:sp>
      <p:sp>
        <p:nvSpPr>
          <p:cNvPr id="6" name="Text 3"/>
          <p:cNvSpPr/>
          <p:nvPr/>
        </p:nvSpPr>
        <p:spPr>
          <a:xfrm>
            <a:off x="685800" y="4270248"/>
            <a:ext cx="1627632" cy="512064"/>
          </a:xfrm>
          <a:prstGeom prst="roundRect">
            <a:avLst>
              <a:gd name="adj" fmla="val 26786"/>
            </a:avLst>
          </a:prstGeom>
          <a:solidFill>
            <a:srgbClr val="C4F53C"/>
          </a:solidFill>
          <a:ln w="12700">
            <a:solidFill>
              <a:srgbClr val="C4F53C"/>
            </a:solidFill>
          </a:ln>
        </p:spPr>
        <p:txBody>
          <a:bodyPr wrap="square" lIns="0" tIns="0" rIns="0" bIns="0" rtlCol="0" anchor="ctr"/>
          <a:lstStyle/>
          <a:p>
            <a:pPr algn="ctr" indent="0" marL="0">
              <a:buNone/>
            </a:pPr>
            <a:r>
              <a:rPr lang="en-US" sz="1300" b="1" dirty="0">
                <a:solidFill>
                  <a:srgbClr val="111315"/>
                </a:solidFill>
                <a:latin typeface="Arial" pitchFamily="34" charset="0"/>
                <a:ea typeface="Arial" pitchFamily="34" charset="-122"/>
                <a:cs typeface="Arial" pitchFamily="34" charset="-120"/>
              </a:rPr>
              <a:t>SIGN UP</a:t>
            </a:r>
            <a:endParaRPr lang="en-US" sz="1300" dirty="0"/>
          </a:p>
        </p:txBody>
      </p:sp>
      <p:sp>
        <p:nvSpPr>
          <p:cNvPr id="7" name="Text 4"/>
          <p:cNvSpPr/>
          <p:nvPr/>
        </p:nvSpPr>
        <p:spPr>
          <a:xfrm>
            <a:off x="2496312" y="4270248"/>
            <a:ext cx="2112264" cy="512064"/>
          </a:xfrm>
          <a:prstGeom prst="roundRect">
            <a:avLst>
              <a:gd name="adj" fmla="val 26786"/>
            </a:avLst>
          </a:prstGeom>
          <a:solidFill>
            <a:srgbClr val="111315"/>
          </a:solidFill>
          <a:ln w="12700">
            <a:solidFill>
              <a:srgbClr val="2A2D31"/>
            </a:solid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View the repo</a:t>
            </a:r>
            <a:endParaRPr lang="en-US" sz="1300" dirty="0"/>
          </a:p>
        </p:txBody>
      </p:sp>
      <p:sp>
        <p:nvSpPr>
          <p:cNvPr id="8" name="Text 5"/>
          <p:cNvSpPr/>
          <p:nvPr/>
        </p:nvSpPr>
        <p:spPr>
          <a:xfrm>
            <a:off x="685800" y="5120640"/>
            <a:ext cx="5486400" cy="292608"/>
          </a:xfrm>
          <a:prstGeom prst="rect">
            <a:avLst/>
          </a:prstGeom>
          <a:noFill/>
          <a:ln/>
        </p:spPr>
        <p:txBody>
          <a:bodyPr wrap="square" lIns="0" tIns="0" rIns="0" bIns="0" rtlCol="0" anchor="ctr"/>
          <a:lstStyle/>
          <a:p>
            <a:pPr indent="0" marL="0">
              <a:buNone/>
            </a:pPr>
            <a:r>
              <a:rPr lang="en-US" sz="1300" dirty="0">
                <a:solidFill>
                  <a:srgbClr val="C4F53C"/>
                </a:solidFill>
                <a:latin typeface="Courier New" pitchFamily="34" charset="0"/>
                <a:ea typeface="Courier New" pitchFamily="34" charset="-122"/>
                <a:cs typeface="Courier New" pitchFamily="34" charset="-120"/>
              </a:rPr>
              <a:t>github.com/Shugar03/PearLedger</a:t>
            </a:r>
            <a:endParaRPr lang="en-US" sz="1300" dirty="0"/>
          </a:p>
        </p:txBody>
      </p:sp>
      <p:sp>
        <p:nvSpPr>
          <p:cNvPr id="9" name="Text 6"/>
          <p:cNvSpPr/>
          <p:nvPr/>
        </p:nvSpPr>
        <p:spPr>
          <a:xfrm>
            <a:off x="685800" y="5458968"/>
            <a:ext cx="7680960" cy="274320"/>
          </a:xfrm>
          <a:prstGeom prst="rect">
            <a:avLst/>
          </a:prstGeom>
          <a:noFill/>
          <a:ln/>
        </p:spPr>
        <p:txBody>
          <a:bodyPr wrap="square" lIns="0" tIns="0" rIns="0" bIns="0" rtlCol="0" anchor="ctr"/>
          <a:lstStyle/>
          <a:p>
            <a:pPr indent="0" marL="0">
              <a:buNone/>
            </a:pPr>
            <a:r>
              <a:rPr lang="en-US" sz="1200" dirty="0">
                <a:solidFill>
                  <a:srgbClr val="73787F"/>
                </a:solidFill>
                <a:latin typeface="Arial" pitchFamily="34" charset="0"/>
                <a:ea typeface="Arial" pitchFamily="34" charset="-122"/>
                <a:cs typeface="Arial" pitchFamily="34" charset="-120"/>
              </a:rPr>
              <a:t>Local-first · Gasless · P2P · Operational sovereignty · Apache-2.0</a:t>
            </a:r>
            <a:endParaRPr lang="en-US" sz="1200" dirty="0"/>
          </a:p>
        </p:txBody>
      </p:sp>
      <p:pic>
        <p:nvPicPr>
          <p:cNvPr id="10" name="Image 1" descr="/tmp/PearLedger/landing/public/mascot/device-light.png">    </p:cNvPr>
          <p:cNvPicPr>
            <a:picLocks noChangeAspect="1"/>
          </p:cNvPicPr>
          <p:nvPr/>
        </p:nvPicPr>
        <p:blipFill>
          <a:blip r:embed="rId2"/>
          <a:stretch>
            <a:fillRect/>
          </a:stretch>
        </p:blipFill>
        <p:spPr>
          <a:xfrm>
            <a:off x="8686800" y="1965960"/>
            <a:ext cx="2651760" cy="34655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PearLedger — Local-first financial automation</dc:title>
  <dc:subject>PptxGenJS Presentation</dc:subject>
  <dc:creator>PearLedger</dc:creator>
  <cp:lastModifiedBy>PearLedger</cp:lastModifiedBy>
  <cp:revision>1</cp:revision>
  <dcterms:created xsi:type="dcterms:W3CDTF">2026-08-22T23:10:02Z</dcterms:created>
  <dcterms:modified xsi:type="dcterms:W3CDTF">2026-08-22T23:10:02Z</dcterms:modified>
</cp:coreProperties>
</file>